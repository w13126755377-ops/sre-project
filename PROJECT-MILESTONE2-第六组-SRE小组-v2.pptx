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5"/>
  </p:notesMasterIdLst>
  <p:sldIdLst>
    <p:sldId id="256" r:id="rId3"/>
    <p:sldId id="257" r:id="rId4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核心三步：结构化记忆构建 → 动态状态解析 → 有效记忆回答。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核心矛盾：静态检索召回历史，但不区分当前有效状态与已过时状态。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技术参考：DimMem — 结构化 Memory + 三路检索（BM25 + Dense Embedding + 维度/时间/地点/类型）；MRAgent — Cue–Tag–Content Graph + Agentic 主动重构。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.xml"/><Relationship Id="rId7" Type="http://schemas.openxmlformats.org/officeDocument/2006/relationships/slideLayout" Target="../slideLayouts/slideLayout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tags" Target="../tags/tag14.xml"/><Relationship Id="rId7" Type="http://schemas.openxmlformats.org/officeDocument/2006/relationships/tags" Target="../tags/tag13.xml"/><Relationship Id="rId6" Type="http://schemas.openxmlformats.org/officeDocument/2006/relationships/tags" Target="../tags/tag12.xml"/><Relationship Id="rId5" Type="http://schemas.openxmlformats.org/officeDocument/2006/relationships/tags" Target="../tags/tag11.xml"/><Relationship Id="rId4" Type="http://schemas.openxmlformats.org/officeDocument/2006/relationships/tags" Target="../tags/tag10.xml"/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0" Type="http://schemas.openxmlformats.org/officeDocument/2006/relationships/notesSlide" Target="../notesSlides/notesSlide2.xml"/><Relationship Id="rId1" Type="http://schemas.openxmlformats.org/officeDocument/2006/relationships/tags" Target="../tags/tag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65176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65176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57200"/>
            <a:ext cx="10515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BFDBF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MILESTONE 2  ·  PROJECT PROPOSAL PRESENTATION  ·  VISION &amp; SCOPE &amp; FEATURE ROADMAP</a:t>
            </a:r>
            <a:endParaRPr sz="1300" b="1">
              <a:solidFill>
                <a:srgbClr val="BFDBF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60" y="91440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智能体动态记忆管理</a:t>
            </a:r>
            <a:endParaRPr sz="4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2960" y="1682496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BFDBF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Agent Dynamic Memory Management</a:t>
            </a:r>
            <a:endParaRPr sz="1600" b="0">
              <a:solidFill>
                <a:srgbClr val="BFDBF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22960" y="210312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DBE6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基于 LoCoMo 的结构化记忆构建与动态状态解析 Web 应用</a:t>
            </a:r>
            <a:endParaRPr sz="1500" b="0">
              <a:solidFill>
                <a:srgbClr val="DBE6F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1097280" y="3154680"/>
            <a:ext cx="9966960" cy="2834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7D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54480" y="3429000"/>
            <a:ext cx="90525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SRE小组   ·   Team ID：第六组</a:t>
            </a:r>
            <a:endParaRPr sz="1900" b="1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554480" y="4096512"/>
            <a:ext cx="9052560" cy="3536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成员：</a:t>
            </a:r>
            <a:r>
              <a:rPr sz="2000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王嘉淦　李胡诚　叶泽晨　马旻瑄　陈镇灏</a:t>
            </a:r>
            <a:endParaRPr sz="2000" b="1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554480" y="4700270"/>
            <a:ext cx="9052560" cy="317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课程：</a:t>
            </a:r>
            <a:r>
              <a:rPr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Software Requirements Engineering</a:t>
            </a:r>
            <a:endParaRPr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132705" y="5367528"/>
            <a:ext cx="9052560" cy="317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2026-10</a:t>
            </a:r>
            <a:endParaRPr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65760"/>
            <a:ext cx="1115568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Vision（愿景）</a:t>
            </a:r>
            <a:endParaRPr sz="2400" b="1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30352" y="1042415"/>
            <a:ext cx="685800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0" y="6528816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SRE小组 · Milestone 2 · 2</a:t>
            </a:r>
            <a:endParaRPr sz="900" b="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822960" y="1325880"/>
            <a:ext cx="10515600" cy="1417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7D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1467676"/>
            <a:ext cx="9601200" cy="11703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320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让 AI 智能体在长程、多会话对话中，</a:t>
            </a:r>
            <a:endParaRPr sz="3200" b="1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「记住的是最新事实，而不是被过时记忆误导」。</a:t>
            </a:r>
            <a:endParaRPr sz="320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822960" y="2880360"/>
            <a:ext cx="10515600" cy="1188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7D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3063240"/>
            <a:ext cx="960120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一句话愿景：</a:t>
            </a:r>
            <a:r>
              <a:rPr sz="13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把「静态向量检索」升级为可追溯、可解析状态演化的动态记忆系统——不仅召回相关历史，还能判断哪些记忆已过时、被替代或相互冲突，从而给出正确回答。</a:t>
            </a:r>
            <a:endParaRPr sz="130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>
            <p:custDataLst>
              <p:tags r:id="rId1"/>
            </p:custDataLst>
          </p:nvPr>
        </p:nvSpPr>
        <p:spPr>
          <a:xfrm>
            <a:off x="822960" y="4251960"/>
            <a:ext cx="3337560" cy="1965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7D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>
            <p:custDataLst>
              <p:tags r:id="rId2"/>
            </p:custDataLst>
          </p:nvPr>
        </p:nvSpPr>
        <p:spPr>
          <a:xfrm>
            <a:off x="1097280" y="4480560"/>
            <a:ext cx="278892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结构化记忆构建</a:t>
            </a:r>
            <a:endParaRPr sz="1400" b="1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 LoCoMo 对话提取人物 / 事件 / 时间 / 状态，生成结构化 Memory，支持统一 JSON 导出。</a:t>
            </a:r>
            <a:endParaRPr sz="120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>
            <p:custDataLst>
              <p:tags r:id="rId3"/>
            </p:custDataLst>
          </p:nvPr>
        </p:nvSpPr>
        <p:spPr>
          <a:xfrm>
            <a:off x="4416552" y="4251960"/>
            <a:ext cx="3337560" cy="1965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7D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>
            <p:custDataLst>
              <p:tags r:id="rId4"/>
            </p:custDataLst>
          </p:nvPr>
        </p:nvSpPr>
        <p:spPr>
          <a:xfrm>
            <a:off x="4690872" y="4480560"/>
            <a:ext cx="278892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动态状态解析</a:t>
            </a:r>
            <a:endParaRPr sz="1400" b="1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判断记忆间 RETAIN / UPDATE / SUPERSEDE / CONFLICT 关系，定位当前有效记忆。</a:t>
            </a:r>
            <a:endParaRPr sz="120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>
            <p:custDataLst>
              <p:tags r:id="rId5"/>
            </p:custDataLst>
          </p:nvPr>
        </p:nvSpPr>
        <p:spPr>
          <a:xfrm>
            <a:off x="8010144" y="4251960"/>
            <a:ext cx="3337560" cy="1965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7D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>
            <p:custDataLst>
              <p:tags r:id="rId6"/>
            </p:custDataLst>
          </p:nvPr>
        </p:nvSpPr>
        <p:spPr>
          <a:xfrm>
            <a:off x="8284464" y="4480560"/>
            <a:ext cx="278892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有效记忆回答</a:t>
            </a:r>
            <a:endParaRPr sz="1400" b="1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基于当前有效 Memory 生成答案，并在 Web 端展示记忆、证据与解析过程。</a:t>
            </a:r>
            <a:endParaRPr sz="120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65760"/>
            <a:ext cx="11155680" cy="4241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要解决什么问题</a:t>
            </a:r>
            <a:r>
              <a:rPr lang="en-US" sz="240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sz="240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Problem &amp; Motivation</a:t>
            </a:r>
            <a:endParaRPr sz="2400" b="1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30352" y="1042415"/>
            <a:ext cx="685800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0" y="6528816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SRE小组 · Milestone 2 · 3</a:t>
            </a:r>
            <a:endParaRPr sz="900" b="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Rounded Rectangle 6"/>
          <p:cNvSpPr/>
          <p:nvPr>
            <p:custDataLst>
              <p:tags r:id="rId1"/>
            </p:custDataLst>
          </p:nvPr>
        </p:nvSpPr>
        <p:spPr>
          <a:xfrm>
            <a:off x="822960" y="1325880"/>
            <a:ext cx="5440680" cy="23957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7D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>
            <p:custDataLst>
              <p:tags r:id="rId2"/>
            </p:custDataLst>
          </p:nvPr>
        </p:nvSpPr>
        <p:spPr>
          <a:xfrm>
            <a:off x="1133856" y="1545336"/>
            <a:ext cx="4800600" cy="2091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问题</a:t>
            </a:r>
            <a:endParaRPr sz="2000" b="1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长程、多轮对话中，用户状态、计划和偏好持续变化。普通向量检索只能「找到相关」，</a:t>
            </a:r>
            <a:r>
              <a:rPr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无法判断「是否仍有效」</a:t>
            </a:r>
            <a:r>
              <a:rPr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——会同时召回当前状态与被后续信息更新掉的旧状态，导致错误回答或决策。</a:t>
            </a:r>
            <a:endParaRPr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ounded Rectangle 8"/>
          <p:cNvSpPr/>
          <p:nvPr>
            <p:custDataLst>
              <p:tags r:id="rId3"/>
            </p:custDataLst>
          </p:nvPr>
        </p:nvSpPr>
        <p:spPr>
          <a:xfrm>
            <a:off x="6583680" y="1325880"/>
            <a:ext cx="5440680" cy="23957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7D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>
            <p:custDataLst>
              <p:tags r:id="rId4"/>
            </p:custDataLst>
          </p:nvPr>
        </p:nvSpPr>
        <p:spPr>
          <a:xfrm>
            <a:off x="6894576" y="1545336"/>
            <a:ext cx="4800600" cy="14268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例子</a:t>
            </a:r>
            <a:endParaRPr sz="2000" b="1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Gina 1月失业于 DoorDash</a:t>
            </a:r>
            <a:r>
              <a:rPr b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3月开了网店</a:t>
            </a:r>
            <a:r>
              <a:rPr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。静态检索可能把过时职业状态当当前事实；本系统应识别 </a:t>
            </a:r>
            <a:r>
              <a:rPr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SUPERSEDE</a:t>
            </a:r>
            <a:r>
              <a:rPr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关系，以最新状态作答。</a:t>
            </a:r>
            <a:endParaRPr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>
            <p:custDataLst>
              <p:tags r:id="rId5"/>
            </p:custDataLst>
          </p:nvPr>
        </p:nvSpPr>
        <p:spPr>
          <a:xfrm>
            <a:off x="822960" y="3886200"/>
            <a:ext cx="5440680" cy="23957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7D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>
            <p:custDataLst>
              <p:tags r:id="rId6"/>
            </p:custDataLst>
          </p:nvPr>
        </p:nvSpPr>
        <p:spPr>
          <a:xfrm>
            <a:off x="1133856" y="4105656"/>
            <a:ext cx="4800600" cy="1610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目标用户与场景</a:t>
            </a:r>
            <a:endParaRPr sz="2000" b="1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长程对话 Agent 的开发者与研究者；</a:t>
            </a:r>
            <a:endParaRPr sz="160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跨会话「我是谁 / 我计划什么 / 我当前什么状态」类问题（长期用户画像、连续项目跟进、角色扮演长线剧情）。</a:t>
            </a:r>
            <a:endParaRPr sz="160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>
            <p:custDataLst>
              <p:tags r:id="rId7"/>
            </p:custDataLst>
          </p:nvPr>
        </p:nvSpPr>
        <p:spPr>
          <a:xfrm>
            <a:off x="6583680" y="3886200"/>
            <a:ext cx="5440680" cy="23957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7D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>
            <p:custDataLst>
              <p:tags r:id="rId8"/>
            </p:custDataLst>
          </p:nvPr>
        </p:nvSpPr>
        <p:spPr>
          <a:xfrm>
            <a:off x="6894576" y="4105656"/>
            <a:ext cx="4800600" cy="1610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④ 数据与测试基础</a:t>
            </a:r>
            <a:endParaRPr sz="2000" b="1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LoCoMo长期多会话对话基准，含 QA、证据轮次、事件摘要标注。课程统一筛选「状态变化」类问题并标注相关 Memory、关系与最终有效 Memory，供系统自动检索、判断与解析。</a:t>
            </a:r>
            <a:endParaRPr sz="160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65760"/>
            <a:ext cx="1115568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项目范围是什么（Scope）</a:t>
            </a:r>
            <a:endParaRPr sz="2400" b="1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30352" y="1042415"/>
            <a:ext cx="685800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0" y="6528816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SRE小组 · Milestone 2 · 4</a:t>
            </a:r>
            <a:endParaRPr sz="900" b="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822960" y="1280160"/>
            <a:ext cx="6766560" cy="4800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7D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70432" y="1517904"/>
            <a:ext cx="6080760" cy="42024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280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In-Scope（必做）</a:t>
            </a:r>
            <a:endParaRPr sz="2800" b="1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数据与记忆构建</a:t>
            </a:r>
            <a:endParaRPr sz="1600" b="1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使用 6 段 LoCoMo（4 段开发 + 2 段测试），从原始对话提取人物/事件/时间/状态，构建结构化 Memory（内容、时间、来源会话/轮次），支持统一 JSON 导出，并实现 Web 端可视化。</a:t>
            </a:r>
            <a:endParaRPr sz="1600" b="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 动态维护与查询</a:t>
            </a:r>
            <a:endParaRPr sz="1600" b="1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针对输入 QA 检索相关历史 Memory，判断 RETAIN（保留）/ UPDATE（更新）/ SUPERSEDE（替代）/CONFLICT（冲突），确定当前有效 Memory 并完成回答；Web 中展示相关证据与状态解析过程。</a:t>
            </a:r>
            <a:endParaRPr sz="1600" b="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交付：</a:t>
            </a:r>
            <a:r>
              <a:rPr sz="1600" b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可运行 Web 应用 + 完整源代码 + 结构化 Memory JSON + 测试结果 + 项目报告</a:t>
            </a:r>
            <a:endParaRPr sz="1600" b="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7818120" y="1280160"/>
            <a:ext cx="3520440" cy="26060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7D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56575" y="1517650"/>
            <a:ext cx="3150235" cy="18180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Bonus</a:t>
            </a:r>
            <a:endParaRPr sz="2000" b="1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复杂冲突消解与多版本保留</a:t>
            </a:r>
            <a:endParaRPr sz="160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Graph Memory / 多跳关系建模</a:t>
            </a:r>
            <a:endParaRPr sz="160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Memory 合并与压缩</a:t>
            </a:r>
            <a:endParaRPr sz="160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自适应检索 / 复杂时间推理</a:t>
            </a:r>
            <a:endParaRPr sz="160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818120" y="4023360"/>
            <a:ext cx="3520440" cy="2057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7D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56448" y="4261104"/>
            <a:ext cx="2834640" cy="10458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Out-of-Scope</a:t>
            </a:r>
            <a:endParaRPr sz="2000" b="1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不训练大模型、不构建通用对话系统、不接入真实生产环境</a:t>
            </a:r>
            <a:r>
              <a:rPr sz="1200" b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1200" b="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65760"/>
            <a:ext cx="1115568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准备实现哪些功能（功能清单）</a:t>
            </a:r>
            <a:endParaRPr sz="2400" b="1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30352" y="1042415"/>
            <a:ext cx="685800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0" y="6528816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SRE小组 · Milestone 2 · 5</a:t>
            </a:r>
            <a:endParaRPr sz="900" b="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22960" y="1261872"/>
          <a:ext cx="10515600" cy="43434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651760"/>
                <a:gridCol w="6035040"/>
                <a:gridCol w="1828800"/>
              </a:tblGrid>
              <a:tr h="361950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功能</a:t>
                      </a:r>
                      <a:endParaRPr sz="12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36576" marB="36576"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说明</a:t>
                      </a:r>
                      <a:endParaRPr sz="12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36576" marB="36576"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优先级</a:t>
                      </a:r>
                      <a:endParaRPr sz="12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36576" marB="36576" anchor="ctr">
                    <a:solidFill>
                      <a:srgbClr val="1E3A8A"/>
                    </a:solidFill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结构化记忆构建</a:t>
                      </a:r>
                      <a:endParaRPr sz="1100" b="1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提取人物/事件/时间/状态 → 结构化 Memory（ID · Content · Entity/Event · Timestamp · Source · State）</a:t>
                      </a:r>
                      <a:endParaRPr sz="1100" b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2563E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必做</a:t>
                      </a:r>
                      <a:endParaRPr sz="1100" b="1">
                        <a:solidFill>
                          <a:srgbClr val="2563E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统一 JSON 导出</a:t>
                      </a:r>
                      <a:endParaRPr sz="1100" b="1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36576" marB="36576" anchor="ctr">
                    <a:solidFill>
                      <a:srgbClr val="E8EE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所有 Memory 导出为统一 JSON 格式</a:t>
                      </a:r>
                      <a:endParaRPr sz="1100" b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36576" marB="36576" anchor="ctr">
                    <a:solidFill>
                      <a:srgbClr val="E8EE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2563E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必做</a:t>
                      </a:r>
                      <a:endParaRPr sz="1100" b="1">
                        <a:solidFill>
                          <a:srgbClr val="2563E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36576" marB="36576" anchor="ctr">
                    <a:solidFill>
                      <a:srgbClr val="E8EEF9"/>
                    </a:solidFill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Web 记忆可视化</a:t>
                      </a:r>
                      <a:endParaRPr sz="1100" b="1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查看结构化记忆 + 原始证据（会话/轮次）</a:t>
                      </a:r>
                      <a:endParaRPr sz="1100" b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2563E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必做</a:t>
                      </a:r>
                      <a:endParaRPr sz="1100" b="1">
                        <a:solidFill>
                          <a:srgbClr val="2563E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记忆检索</a:t>
                      </a:r>
                      <a:endParaRPr sz="1100" b="1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36576" marB="36576" anchor="ctr">
                    <a:solidFill>
                      <a:srgbClr val="E8EE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给定问题，从长期历史检索相关 Memory</a:t>
                      </a:r>
                      <a:endParaRPr sz="1100" b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36576" marB="36576" anchor="ctr">
                    <a:solidFill>
                      <a:srgbClr val="E8EE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2563E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必做</a:t>
                      </a:r>
                      <a:endParaRPr sz="1100" b="1">
                        <a:solidFill>
                          <a:srgbClr val="2563E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36576" marB="36576" anchor="ctr">
                    <a:solidFill>
                      <a:srgbClr val="E8EEF9"/>
                    </a:solidFill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状态关系判定</a:t>
                      </a:r>
                      <a:endParaRPr sz="1100" b="1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判断 RETAIN / UPDATE / SUPERSEDE / CONFLICT</a:t>
                      </a:r>
                      <a:endParaRPr sz="1100" b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2563E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必做</a:t>
                      </a:r>
                      <a:endParaRPr sz="1100" b="1">
                        <a:solidFill>
                          <a:srgbClr val="2563E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有效记忆解析 + 回答</a:t>
                      </a:r>
                      <a:endParaRPr sz="1100" b="1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36576" marB="36576" anchor="ctr">
                    <a:solidFill>
                      <a:srgbClr val="E8EE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确定当前有效 Memory，据此生成答案</a:t>
                      </a:r>
                      <a:endParaRPr sz="1100" b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36576" marB="36576" anchor="ctr">
                    <a:solidFill>
                      <a:srgbClr val="E8EE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2563E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必做</a:t>
                      </a:r>
                      <a:endParaRPr sz="1100" b="1">
                        <a:solidFill>
                          <a:srgbClr val="2563E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36576" marB="36576" anchor="ctr">
                    <a:solidFill>
                      <a:srgbClr val="E8EEF9"/>
                    </a:solidFill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Web 状态解析展示</a:t>
                      </a:r>
                      <a:endParaRPr sz="1100" b="1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展示相关历史 Memory 及其关系、解析过程</a:t>
                      </a:r>
                      <a:endParaRPr sz="1100" b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2563E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必做</a:t>
                      </a:r>
                      <a:endParaRPr sz="1100" b="1">
                        <a:solidFill>
                          <a:srgbClr val="2563E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冲突消解 / 多版本保留</a:t>
                      </a:r>
                      <a:endParaRPr sz="1100" b="1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36576" marB="36576" anchor="ctr">
                    <a:solidFill>
                      <a:srgbClr val="E8EE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更复杂的冲突消解与多版本保留</a:t>
                      </a:r>
                      <a:endParaRPr sz="1100" b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36576" marB="36576" anchor="ctr">
                    <a:solidFill>
                      <a:srgbClr val="E8EE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Bonus</a:t>
                      </a:r>
                      <a:endParaRPr sz="1100" b="0">
                        <a:solidFill>
                          <a:srgbClr val="47556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36576" marB="36576" anchor="ctr">
                    <a:solidFill>
                      <a:srgbClr val="E8EEF9"/>
                    </a:solidFill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Graph Memory</a:t>
                      </a:r>
                      <a:endParaRPr sz="1100" b="1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图记忆 / 多跳关系建模</a:t>
                      </a:r>
                      <a:endParaRPr sz="1100" b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Bonus</a:t>
                      </a:r>
                      <a:endParaRPr sz="1100" b="0">
                        <a:solidFill>
                          <a:srgbClr val="47556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记忆合并压缩</a:t>
                      </a:r>
                      <a:endParaRPr sz="1100" b="1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36576" marB="36576" anchor="ctr">
                    <a:solidFill>
                      <a:srgbClr val="E8EE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Memory 合并与压缩</a:t>
                      </a:r>
                      <a:endParaRPr sz="1100" b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36576" marB="36576" anchor="ctr">
                    <a:solidFill>
                      <a:srgbClr val="E8EE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Bonus</a:t>
                      </a:r>
                      <a:endParaRPr sz="1100" b="0">
                        <a:solidFill>
                          <a:srgbClr val="47556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36576" marB="36576" anchor="ctr">
                    <a:solidFill>
                      <a:srgbClr val="E8EEF9"/>
                    </a:solidFill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自适应检索 / 时间推理</a:t>
                      </a:r>
                      <a:endParaRPr sz="1100" b="1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自适应检索或复杂时间推理</a:t>
                      </a:r>
                      <a:endParaRPr sz="1100" b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Bonus</a:t>
                      </a:r>
                      <a:endParaRPr sz="1100" b="0">
                        <a:solidFill>
                          <a:srgbClr val="47556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22960" y="5870448"/>
            <a:ext cx="10515600" cy="658368"/>
          </a:xfrm>
          <a:prstGeom prst="roundRect">
            <a:avLst/>
          </a:prstGeom>
          <a:solidFill>
            <a:srgbClr val="E8EEF9"/>
          </a:solidFill>
          <a:ln w="9525">
            <a:solidFill>
              <a:srgbClr val="C7D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5989320"/>
            <a:ext cx="99212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建议 Memory 字段：</a:t>
            </a:r>
            <a:r>
              <a:rPr sz="125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Memory ID · Content · Entity/Event · Timestamp · Source Session/Turn · Query Relation · Validity/State</a:t>
            </a:r>
            <a:endParaRPr sz="125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65760"/>
            <a:ext cx="1115568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系统概述（Pipeline）与状态关系示例</a:t>
            </a:r>
            <a:endParaRPr sz="2400" b="1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30352" y="1042415"/>
            <a:ext cx="685800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0" y="6528816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SRE小组 · Milestone 2 · 6</a:t>
            </a:r>
            <a:endParaRPr sz="900" b="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1005840" y="1325880"/>
            <a:ext cx="5760720" cy="69494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7D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98448" y="1351344"/>
            <a:ext cx="5175504" cy="6623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长对话（多会话）</a:t>
            </a:r>
            <a:endParaRPr sz="2000" b="1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LoCoMo 多会话对话数据</a:t>
            </a:r>
            <a:endParaRPr sz="160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Down Arrow 8"/>
          <p:cNvSpPr/>
          <p:nvPr/>
        </p:nvSpPr>
        <p:spPr>
          <a:xfrm>
            <a:off x="3703320" y="2025395"/>
            <a:ext cx="274320" cy="210311"/>
          </a:xfrm>
          <a:prstGeom prst="downArrow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05840" y="2240280"/>
            <a:ext cx="5760720" cy="69494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7D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98448" y="2300986"/>
            <a:ext cx="5175504" cy="5918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结构化记忆抽取</a:t>
            </a:r>
            <a:endParaRPr sz="2000" b="1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Memory：ID · Content · Entity/Event · Timestamp · Source · State</a:t>
            </a:r>
            <a:endParaRPr sz="120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Down Arrow 11"/>
          <p:cNvSpPr/>
          <p:nvPr/>
        </p:nvSpPr>
        <p:spPr>
          <a:xfrm>
            <a:off x="3703320" y="2939796"/>
            <a:ext cx="274320" cy="210311"/>
          </a:xfrm>
          <a:prstGeom prst="downArrow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05840" y="3154680"/>
            <a:ext cx="5760720" cy="69494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7D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98448" y="3162681"/>
            <a:ext cx="5175504" cy="6972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问题驱动检索</a:t>
            </a:r>
            <a:endParaRPr sz="1400" b="1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相关候选 Memory</a:t>
            </a:r>
            <a:endParaRPr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Down Arrow 14"/>
          <p:cNvSpPr/>
          <p:nvPr/>
        </p:nvSpPr>
        <p:spPr>
          <a:xfrm>
            <a:off x="3703320" y="3854196"/>
            <a:ext cx="274320" cy="210311"/>
          </a:xfrm>
          <a:prstGeom prst="downArrow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005840" y="4069080"/>
            <a:ext cx="5760720" cy="69494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7D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98448" y="4094543"/>
            <a:ext cx="5175504" cy="6623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④ 状态关系判定</a:t>
            </a:r>
            <a:endParaRPr sz="2000" b="1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RETAIN / UPDATE / SUPERSEDE / CONFLICT</a:t>
            </a:r>
            <a:endParaRPr sz="160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Down Arrow 17"/>
          <p:cNvSpPr/>
          <p:nvPr/>
        </p:nvSpPr>
        <p:spPr>
          <a:xfrm>
            <a:off x="3703320" y="4768596"/>
            <a:ext cx="274320" cy="210311"/>
          </a:xfrm>
          <a:prstGeom prst="downArrow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05840" y="4983480"/>
            <a:ext cx="5760720" cy="69494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7D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98448" y="5044503"/>
            <a:ext cx="5175504" cy="59118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⑤ 有效 Memory 解析</a:t>
            </a:r>
            <a:endParaRPr b="1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 生成答案 + 证据展示（Web）</a:t>
            </a:r>
            <a:endParaRPr sz="140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7132320" y="1325880"/>
            <a:ext cx="4206240" cy="4800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7D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461" y="1572768"/>
            <a:ext cx="3584448" cy="3692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200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状态关系示例（真实 LoCoMo）</a:t>
            </a:r>
            <a:endParaRPr sz="2000" b="1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UPDATE 更新</a:t>
            </a:r>
            <a:endParaRPr sz="160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Caroline：researching → applied → passed adoption。最新阶段为当前有效状态，前序保留为历史。</a:t>
            </a:r>
            <a:endParaRPr sz="140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C85A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SUPERSEDE 替代</a:t>
            </a:r>
            <a:endParaRPr sz="1600" b="1">
              <a:solidFill>
                <a:srgbClr val="C85A1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Gina：1月失业 DoorDash → 3月网店开业。旧状态被新状态替代，历史事实仍可追溯。</a:t>
            </a:r>
            <a:endParaRPr sz="140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C23B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CONFLICT 冲突</a:t>
            </a:r>
            <a:endParaRPr sz="1600" b="1">
              <a:solidFill>
                <a:srgbClr val="C23B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Gina 已失业 vs 仍在 DoorDash 工作。两条当前事实不可同时成立且无充分证据消解 → 标记冲突、暂并存并保留来源。</a:t>
            </a:r>
            <a:endParaRPr sz="140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65760"/>
            <a:ext cx="1115568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Feature Roadmap（版本路线图）</a:t>
            </a:r>
            <a:endParaRPr sz="2400" b="1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30352" y="1042415"/>
            <a:ext cx="685800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0" y="6528816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SRE小组 · Milestone 2 · 7</a:t>
            </a:r>
            <a:endParaRPr sz="900" b="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546100" y="1449705"/>
          <a:ext cx="11112500" cy="305943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966595"/>
                <a:gridCol w="1574165"/>
                <a:gridCol w="7571740"/>
              </a:tblGrid>
              <a:tr h="693420"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版本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36576" marB="36576"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里程碑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36576" marB="36576"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功能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36576" marB="36576" anchor="ctr">
                    <a:solidFill>
                      <a:srgbClr val="1E3A8A"/>
                    </a:solidFill>
                  </a:tcPr>
                </a:tc>
              </a:tr>
              <a:tr h="694055"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800" b="1">
                          <a:solidFill>
                            <a:srgbClr val="1E3A8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V1（MVP）</a:t>
                      </a:r>
                      <a:endParaRPr sz="1800" b="1">
                        <a:solidFill>
                          <a:srgbClr val="1E3A8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800" b="1">
                          <a:solidFill>
                            <a:srgbClr val="2563E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M3</a:t>
                      </a:r>
                      <a:endParaRPr sz="1800" b="1">
                        <a:solidFill>
                          <a:srgbClr val="2563E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800" b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数据选段（4 dev + 2 test）· 结构化记忆构建 · 统一 JSON 导出 · Web 记忆/证据可视化</a:t>
                      </a:r>
                      <a:endParaRPr sz="1800" b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</a:tr>
              <a:tr h="978535"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800" b="1">
                          <a:solidFill>
                            <a:srgbClr val="1E3A8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V2（核心）</a:t>
                      </a:r>
                      <a:endParaRPr sz="1800" b="1">
                        <a:solidFill>
                          <a:srgbClr val="1E3A8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800" b="1">
                          <a:solidFill>
                            <a:srgbClr val="2563E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M4</a:t>
                      </a:r>
                      <a:endParaRPr sz="1800" b="1">
                        <a:solidFill>
                          <a:srgbClr val="2563E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800" b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记忆检索 · 状态关系判定（RETAIN/UPDATE/SUPERSEDE/CONFLICT）· 有效记忆解析 + QA · Web 状态解析展示</a:t>
                      </a:r>
                      <a:endParaRPr sz="1800" b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800" b="1">
                          <a:solidFill>
                            <a:srgbClr val="1E3A8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V3（增强）</a:t>
                      </a:r>
                      <a:endParaRPr sz="1800" b="1">
                        <a:solidFill>
                          <a:srgbClr val="1E3A8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800" b="1">
                          <a:solidFill>
                            <a:srgbClr val="2563E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M5</a:t>
                      </a:r>
                      <a:endParaRPr sz="1800" b="1">
                        <a:solidFill>
                          <a:srgbClr val="2563E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800" b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Bonus</a:t>
                      </a:r>
                      <a:r>
                        <a:rPr lang="zh-CN" sz="1800" b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完成</a:t>
                      </a:r>
                      <a:r>
                        <a:rPr lang="en-US" altLang="zh-CN" sz="1800" b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-</a:t>
                      </a:r>
                      <a:r>
                        <a:rPr sz="1800" b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（Graph 记忆 / 冲突消解 / 自适应检索）· 完整对照评测 · 报告与终版展示</a:t>
                      </a:r>
                      <a:endParaRPr sz="1800" b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914400" y="4617720"/>
            <a:ext cx="10332720" cy="1417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7D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61872" y="4828032"/>
            <a:ext cx="9646920" cy="1007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推进方式：</a:t>
            </a:r>
            <a:endParaRPr sz="2000" b="1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每个版本对应一个里程碑，</a:t>
            </a:r>
            <a:r>
              <a:rPr lang="zh-CN" sz="16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同版本</a:t>
            </a:r>
            <a:r>
              <a:rPr sz="16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至少两轮迭代（初稿 </a:t>
            </a:r>
            <a:r>
              <a:rPr lang="zh-CN" sz="16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sz="16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评审 </a:t>
            </a:r>
            <a:r>
              <a:rPr lang="zh-CN" sz="16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sz="16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修订定稿），截止前预留 1–2 天 buffer，保证功能逐层递进、可追溯。</a:t>
            </a:r>
            <a:endParaRPr sz="160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65760"/>
            <a:ext cx="1115568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数据与评测</a:t>
            </a:r>
            <a:endParaRPr sz="2400" b="1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30352" y="1042415"/>
            <a:ext cx="685800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0" y="6528816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SRE小组 · Milestone 2 · 8</a:t>
            </a:r>
            <a:endParaRPr sz="900" b="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822960" y="1325880"/>
            <a:ext cx="5212080" cy="2331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7D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1545336"/>
            <a:ext cx="4626864" cy="19697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200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数据来源</a:t>
            </a:r>
            <a:endParaRPr sz="2000" b="1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从官方 10 段长对话选 6 段：</a:t>
            </a:r>
            <a:r>
              <a:rPr sz="1600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 段 dev + 2 段 test</a:t>
            </a:r>
            <a:r>
              <a:rPr sz="16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（其余 4 段作扩展评测）。每段平均 588.2 轮、27.2 个会话、约 1.66 万 Token，含 QA / 证据轮次 / 事件摘要标注。</a:t>
            </a:r>
            <a:endParaRPr sz="160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数据与代码：github.com/snap-research/locomo</a:t>
            </a:r>
            <a:endParaRPr sz="1600" b="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153912" y="1325880"/>
            <a:ext cx="5212080" cy="2331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7D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545336"/>
            <a:ext cx="4626864" cy="19183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200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动态记忆测试</a:t>
            </a:r>
            <a:endParaRPr sz="2000" b="1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课程从所选 LoCoMo QA 中统一筛选「状态变化」问题，并标注相关历史 Memory、Memory 间的保留 / 更新替代关系及最终有效 Memory。系统需自动检索相关 Memory、完成关系判断与状态解析后再生成答案。</a:t>
            </a:r>
            <a:endParaRPr sz="160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822960" y="3840480"/>
            <a:ext cx="5212080" cy="2331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7D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4059936"/>
            <a:ext cx="4626864" cy="16744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200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评测指标与对照</a:t>
            </a:r>
            <a:endParaRPr sz="2000" b="1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评测：</a:t>
            </a:r>
            <a:r>
              <a:rPr sz="16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问题回答 F1 · 证据记忆检索 Recall@K · 动态状态更新判断准确率。</a:t>
            </a:r>
            <a:endParaRPr sz="160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对照（Baseline）：</a:t>
            </a:r>
            <a:r>
              <a:rPr sz="16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Full Text（全文）· Vector RAG（检索相关 Memory 但不做状态关系判断）。</a:t>
            </a:r>
            <a:endParaRPr sz="160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153912" y="3840480"/>
            <a:ext cx="5212080" cy="2331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7D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4059936"/>
            <a:ext cx="4626864" cy="13284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200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参考文献</a:t>
            </a:r>
            <a:endParaRPr sz="2000" b="1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Maharana A, et al. Evaluating Very Long-Term Conversational Memory of LLM Agents. ACL 2024.</a:t>
            </a:r>
            <a:endParaRPr sz="160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65760"/>
            <a:ext cx="1115568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后续如何推进（计划）</a:t>
            </a:r>
            <a:endParaRPr sz="2400" b="1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30352" y="1042415"/>
            <a:ext cx="685800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0" y="6528816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SRE小组 · Milestone 2 · 9</a:t>
            </a:r>
            <a:endParaRPr sz="900" b="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22960" y="1280160"/>
          <a:ext cx="6400800" cy="237744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914400"/>
                <a:gridCol w="3383280"/>
                <a:gridCol w="822960"/>
                <a:gridCol w="1280160"/>
              </a:tblGrid>
              <a:tr h="396240"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里程碑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36576" marB="36576"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内容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36576" marB="36576"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占比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36576" marB="36576"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截止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36576" marB="36576" anchor="ctr">
                    <a:solidFill>
                      <a:srgbClr val="1E3A8A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600" b="1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M1</a:t>
                      </a:r>
                      <a:endParaRPr sz="1600" b="1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600" b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Team Workflow</a:t>
                      </a:r>
                      <a:endParaRPr sz="1600" b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600" b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15%</a:t>
                      </a:r>
                      <a:endParaRPr sz="1600" b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600" b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10/10</a:t>
                      </a:r>
                      <a:endParaRPr sz="1600" b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600" b="1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M2</a:t>
                      </a:r>
                      <a:endParaRPr sz="1600" b="1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36576" marB="36576" anchor="ctr">
                    <a:solidFill>
                      <a:srgbClr val="E8EE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600" b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Project Proposal</a:t>
                      </a:r>
                      <a:endParaRPr sz="1600" b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36576" marB="36576" anchor="ctr">
                    <a:solidFill>
                      <a:srgbClr val="E8EE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600" b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5%</a:t>
                      </a:r>
                      <a:endParaRPr sz="1600" b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36576" marB="36576" anchor="ctr">
                    <a:solidFill>
                      <a:srgbClr val="E8EE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600" b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10/10</a:t>
                      </a:r>
                      <a:endParaRPr sz="1600" b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36576" marB="36576" anchor="ctr">
                    <a:solidFill>
                      <a:srgbClr val="E8EEF9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600" b="1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M3</a:t>
                      </a:r>
                      <a:endParaRPr sz="1600" b="1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600" b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SRS</a:t>
                      </a:r>
                      <a:endParaRPr sz="1600" b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600" b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15%</a:t>
                      </a:r>
                      <a:endParaRPr sz="1600" b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600" b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10/24</a:t>
                      </a:r>
                      <a:endParaRPr sz="1600" b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600" b="1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M4</a:t>
                      </a:r>
                      <a:endParaRPr sz="1600" b="1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36576" marB="36576" anchor="ctr">
                    <a:solidFill>
                      <a:srgbClr val="E8EE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600" b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Mid-term（设计/编码/测试）</a:t>
                      </a:r>
                      <a:endParaRPr sz="1600" b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36576" marB="36576" anchor="ctr">
                    <a:solidFill>
                      <a:srgbClr val="E8EE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600" b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35%</a:t>
                      </a:r>
                      <a:endParaRPr sz="1600" b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36576" marB="36576" anchor="ctr">
                    <a:solidFill>
                      <a:srgbClr val="E8EE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600" b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10/24</a:t>
                      </a:r>
                      <a:endParaRPr sz="1600" b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36576" marB="36576" anchor="ctr">
                    <a:solidFill>
                      <a:srgbClr val="E8EEF9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600" b="1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M5</a:t>
                      </a:r>
                      <a:endParaRPr sz="1600" b="1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600" b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Final Presentation &amp; Report</a:t>
                      </a:r>
                      <a:endParaRPr sz="1600" b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600" b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30%</a:t>
                      </a:r>
                      <a:endParaRPr sz="1600" b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600" b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11/9</a:t>
                      </a:r>
                      <a:endParaRPr sz="1600" b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22960" y="3840480"/>
            <a:ext cx="6400800" cy="22402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7D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4041648"/>
            <a:ext cx="5806440" cy="10248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推进方式</a:t>
            </a:r>
            <a:endParaRPr sz="1400" b="1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每里程碑至少两轮迭代（初稿 → 评审 → 修订定稿），截止前预留 1–2 天 buffer。</a:t>
            </a:r>
            <a:endParaRPr sz="115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阶段一（10/8–10/10）M1+M2；阶段二（10/11–10/24）M3+M4；阶段三（10/25–11/9）M5。</a:t>
            </a:r>
            <a:endParaRPr sz="115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452360" y="1280160"/>
            <a:ext cx="3886200" cy="26517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7D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0" y="1499616"/>
            <a:ext cx="3246120" cy="2062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200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分工</a:t>
            </a:r>
            <a:endParaRPr sz="2000" b="1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组长/项目经理：</a:t>
            </a:r>
            <a:r>
              <a:rPr sz="1600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王嘉淦</a:t>
            </a:r>
            <a:endParaRPr sz="1600" b="1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需求/数据+算法：</a:t>
            </a:r>
            <a:r>
              <a:rPr sz="1600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李胡诚</a:t>
            </a:r>
            <a:endParaRPr sz="1600" b="1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后端开发：</a:t>
            </a:r>
            <a:r>
              <a:rPr sz="1600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叶泽晨</a:t>
            </a:r>
            <a:endParaRPr sz="1600" b="1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前端开发：</a:t>
            </a:r>
            <a:r>
              <a:rPr sz="1600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马旻瑄</a:t>
            </a:r>
            <a:endParaRPr sz="1600" b="1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测试/DevOps+评测：</a:t>
            </a:r>
            <a:r>
              <a:rPr sz="1600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陈镇灏</a:t>
            </a:r>
            <a:endParaRPr sz="1600" b="1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452360" y="4069080"/>
            <a:ext cx="3886200" cy="2011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7D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0" y="4279392"/>
            <a:ext cx="3246120" cy="17379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下一步行动</a:t>
            </a:r>
            <a:endParaRPr b="1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已完成：建仓库、process/ 目录、</a:t>
            </a:r>
            <a:r>
              <a:rPr lang="zh-CN" sz="14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完成</a:t>
            </a:r>
            <a:r>
              <a:rPr sz="14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会议纪要模板</a:t>
            </a:r>
            <a:r>
              <a:rPr lang="zh-CN" sz="14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、完成首次会议</a:t>
            </a:r>
            <a:endParaRPr sz="140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接下来：选定 4 dev + 2 test 数据、设计 Memory 字段与 JSON 结构、SRS v0.1。</a:t>
            </a:r>
            <a:endParaRPr sz="1400" b="1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65760"/>
            <a:ext cx="1115568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成功标准 / 交付与评分 / 风险</a:t>
            </a:r>
            <a:endParaRPr sz="2400" b="1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30352" y="1042415"/>
            <a:ext cx="685800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0" y="6528816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SRE小组 · Milestone 2 · 10</a:t>
            </a:r>
            <a:endParaRPr sz="900" b="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822960" y="1280160"/>
            <a:ext cx="5212080" cy="26974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7D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1499616"/>
            <a:ext cx="4626864" cy="2277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交付内容</a:t>
            </a:r>
            <a:endParaRPr sz="2000" b="1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50"/>
              </a:spcAft>
            </a:pPr>
            <a:r>
              <a:rPr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可运行的 Web 应用</a:t>
            </a:r>
            <a:endParaRPr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50"/>
              </a:spcAft>
            </a:pPr>
            <a:r>
              <a:rPr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完整源代码</a:t>
            </a:r>
            <a:endParaRPr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50"/>
              </a:spcAft>
            </a:pPr>
            <a:r>
              <a:rPr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结构化 Memory JSON</a:t>
            </a:r>
            <a:endParaRPr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50"/>
              </a:spcAft>
            </a:pPr>
            <a:r>
              <a:rPr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④ 实验结果与对照分析</a:t>
            </a:r>
            <a:endParaRPr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50"/>
              </a:spcAft>
            </a:pPr>
            <a:r>
              <a:rPr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⑤ 项目报告与课堂展示</a:t>
            </a:r>
            <a:endParaRPr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153912" y="1280160"/>
            <a:ext cx="5212080" cy="26974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7D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499616"/>
            <a:ext cx="4626864" cy="21158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zh-CN" sz="240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严格按照</a:t>
            </a:r>
            <a:r>
              <a:rPr sz="240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评分依据</a:t>
            </a:r>
            <a:r>
              <a:rPr lang="zh-CN" sz="240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完成项目</a:t>
            </a:r>
            <a:endParaRPr sz="2400" b="1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50"/>
              </a:spcAft>
            </a:pPr>
            <a:r>
              <a:rPr sz="20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各里程碑交付物质量</a:t>
            </a:r>
            <a:endParaRPr sz="200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50"/>
              </a:spcAft>
            </a:pPr>
            <a:r>
              <a:rPr sz="20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版本控制</a:t>
            </a:r>
            <a:endParaRPr sz="200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50"/>
              </a:spcAft>
            </a:pPr>
            <a:r>
              <a:rPr sz="20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项目管理</a:t>
            </a:r>
            <a:endParaRPr sz="200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50"/>
              </a:spcAft>
            </a:pPr>
            <a:r>
              <a:rPr sz="20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④ 中期与期末展示</a:t>
            </a:r>
            <a:endParaRPr sz="200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822960" y="4114800"/>
            <a:ext cx="10543032" cy="1965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7D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441" y="4297426"/>
            <a:ext cx="9921240" cy="11849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200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风险与对策</a:t>
            </a:r>
            <a:endParaRPr sz="2000" b="1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数据量大（每段 ~588 轮）：</a:t>
            </a:r>
            <a:r>
              <a:rPr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 4 段 dev 尽早跑通流水线，再上 2 段 test 复测。</a:t>
            </a:r>
            <a:endParaRPr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时间紧、迭代多：</a:t>
            </a:r>
            <a:r>
              <a:rPr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每里程碑两轮迭代 + 提前 1–2 天 buffer；功能逐版本递进、可追溯。</a:t>
            </a:r>
            <a:endParaRPr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54.8,&quot;left&quot;:64.8,&quot;top&quot;:334.8,&quot;width&quot;:828.72}"/>
</p:tagLst>
</file>

<file path=ppt/tags/tag2.xml><?xml version="1.0" encoding="utf-8"?>
<p:tagLst xmlns:p="http://schemas.openxmlformats.org/presentationml/2006/main">
  <p:tag name="KSO_WM_DIAGRAM_VIRTUALLY_FRAME" val="{&quot;height&quot;:154.8,&quot;left&quot;:64.8,&quot;top&quot;:334.8,&quot;width&quot;:828.72}"/>
</p:tagLst>
</file>

<file path=ppt/tags/tag3.xml><?xml version="1.0" encoding="utf-8"?>
<p:tagLst xmlns:p="http://schemas.openxmlformats.org/presentationml/2006/main">
  <p:tag name="KSO_WM_DIAGRAM_VIRTUALLY_FRAME" val="{&quot;height&quot;:154.8,&quot;left&quot;:64.8,&quot;top&quot;:334.8,&quot;width&quot;:828.72}"/>
</p:tagLst>
</file>

<file path=ppt/tags/tag4.xml><?xml version="1.0" encoding="utf-8"?>
<p:tagLst xmlns:p="http://schemas.openxmlformats.org/presentationml/2006/main">
  <p:tag name="KSO_WM_DIAGRAM_VIRTUALLY_FRAME" val="{&quot;height&quot;:154.8,&quot;left&quot;:64.8,&quot;top&quot;:334.8,&quot;width&quot;:828.72}"/>
</p:tagLst>
</file>

<file path=ppt/tags/tag5.xml><?xml version="1.0" encoding="utf-8"?>
<p:tagLst xmlns:p="http://schemas.openxmlformats.org/presentationml/2006/main">
  <p:tag name="KSO_WM_DIAGRAM_VIRTUALLY_FRAME" val="{&quot;height&quot;:154.8,&quot;left&quot;:64.8,&quot;top&quot;:334.8,&quot;width&quot;:828.72}"/>
</p:tagLst>
</file>

<file path=ppt/tags/tag6.xml><?xml version="1.0" encoding="utf-8"?>
<p:tagLst xmlns:p="http://schemas.openxmlformats.org/presentationml/2006/main">
  <p:tag name="KSO_WM_DIAGRAM_VIRTUALLY_FRAME" val="{&quot;height&quot;:154.8,&quot;left&quot;:64.8,&quot;top&quot;:334.8,&quot;width&quot;:828.72}"/>
</p:tagLst>
</file>

<file path=ppt/tags/tag7.xml><?xml version="1.0" encoding="utf-8"?>
<p:tagLst xmlns:p="http://schemas.openxmlformats.org/presentationml/2006/main">
  <p:tag name="KSO_WM_DIAGRAM_VIRTUALLY_FRAME" val="{&quot;height&quot;:390.23999999999995,&quot;left&quot;:64.8,&quot;top&quot;:104.4,&quot;width&quot;:882}"/>
</p:tagLst>
</file>

<file path=ppt/tags/tag8.xml><?xml version="1.0" encoding="utf-8"?>
<p:tagLst xmlns:p="http://schemas.openxmlformats.org/presentationml/2006/main">
  <p:tag name="KSO_WM_DIAGRAM_VIRTUALLY_FRAME" val="{&quot;height&quot;:390.23999999999995,&quot;left&quot;:64.8,&quot;top&quot;:104.4,&quot;width&quot;:882}"/>
</p:tagLst>
</file>

<file path=ppt/tags/tag9.xml><?xml version="1.0" encoding="utf-8"?>
<p:tagLst xmlns:p="http://schemas.openxmlformats.org/presentationml/2006/main">
  <p:tag name="KSO_WM_DIAGRAM_VIRTUALLY_FRAME" val="{&quot;height&quot;:390.23999999999995,&quot;left&quot;:64.8,&quot;top&quot;:104.4,&quot;width&quot;:882}"/>
</p:tagLst>
</file>

<file path=ppt/tags/tag10.xml><?xml version="1.0" encoding="utf-8"?>
<p:tagLst xmlns:p="http://schemas.openxmlformats.org/presentationml/2006/main">
  <p:tag name="KSO_WM_DIAGRAM_VIRTUALLY_FRAME" val="{&quot;height&quot;:390.23999999999995,&quot;left&quot;:64.8,&quot;top&quot;:104.4,&quot;width&quot;:882}"/>
</p:tagLst>
</file>

<file path=ppt/tags/tag11.xml><?xml version="1.0" encoding="utf-8"?>
<p:tagLst xmlns:p="http://schemas.openxmlformats.org/presentationml/2006/main">
  <p:tag name="KSO_WM_DIAGRAM_VIRTUALLY_FRAME" val="{&quot;height&quot;:390.23999999999995,&quot;left&quot;:64.8,&quot;top&quot;:104.4,&quot;width&quot;:882}"/>
</p:tagLst>
</file>

<file path=ppt/tags/tag12.xml><?xml version="1.0" encoding="utf-8"?>
<p:tagLst xmlns:p="http://schemas.openxmlformats.org/presentationml/2006/main">
  <p:tag name="KSO_WM_DIAGRAM_VIRTUALLY_FRAME" val="{&quot;height&quot;:390.23999999999995,&quot;left&quot;:64.8,&quot;top&quot;:104.4,&quot;width&quot;:882}"/>
</p:tagLst>
</file>

<file path=ppt/tags/tag13.xml><?xml version="1.0" encoding="utf-8"?>
<p:tagLst xmlns:p="http://schemas.openxmlformats.org/presentationml/2006/main">
  <p:tag name="KSO_WM_DIAGRAM_VIRTUALLY_FRAME" val="{&quot;height&quot;:390.23999999999995,&quot;left&quot;:64.8,&quot;top&quot;:104.4,&quot;width&quot;:882}"/>
</p:tagLst>
</file>

<file path=ppt/tags/tag14.xml><?xml version="1.0" encoding="utf-8"?>
<p:tagLst xmlns:p="http://schemas.openxmlformats.org/presentationml/2006/main">
  <p:tag name="KSO_WM_DIAGRAM_VIRTUALLY_FRAME" val="{&quot;height&quot;:390.23999999999995,&quot;left&quot;:64.8,&quot;top&quot;:104.4,&quot;width&quot;:882}"/>
</p:tagLst>
</file>

<file path=ppt/tags/tag15.xml><?xml version="1.0" encoding="utf-8"?>
<p:tagLst xmlns:p="http://schemas.openxmlformats.org/presentationml/2006/main">
  <p:tag name="TABLE_ENDDRAG_ORIGIN_RECT" val="875*237"/>
  <p:tag name="TABLE_ENDDRAG_RECT" val="43*114*875*237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3990</Words>
  <Application>WPS Presentation</Application>
  <PresentationFormat>On-screen Show (4:3)</PresentationFormat>
  <Paragraphs>313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8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王嘉淦</cp:lastModifiedBy>
  <cp:revision>13</cp:revision>
  <dcterms:created xsi:type="dcterms:W3CDTF">2013-01-27T09:14:00Z</dcterms:created>
  <dcterms:modified xsi:type="dcterms:W3CDTF">2026-10-09T09:38:53Z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D33ECDD4762F4CCEA36AC3675E60FF0A_12</vt:lpwstr>
  </property>
  <property fmtid="{D5CDD505-2E9C-101B-9397-08002B2CF9AE}" pid="3" name="KSOProductBuildVer">
    <vt:lpwstr>1033-12.1.0.28043</vt:lpwstr>
  </property>
</Properties>
</file>