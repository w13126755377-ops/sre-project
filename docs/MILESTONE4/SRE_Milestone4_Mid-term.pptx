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56" r:id="rId3"/>
    <p:sldId id="257" r:id="rId4"/>
    <p:sldId id="258" r:id="rId5"/>
    <p:sldId id="259" r:id="rId6"/>
    <p:sldId id="260" r:id="rId8"/>
    <p:sldId id="261" r:id="rId9"/>
    <p:sldId id="262" r:id="rId10"/>
    <p:sldId id="263" r:id="rId11"/>
    <p:sldId id="264" r:id="rId12"/>
    <p:sldId id="265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1" userDrawn="1">
          <p15:clr>
            <a:srgbClr val="A4A3A4"/>
          </p15:clr>
        </p15:guide>
        <p15:guide id="2" pos="28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211"/>
        <p:guide pos="288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401568"/>
          </a:xfrm>
          <a:prstGeom prst="rect">
            <a:avLst/>
          </a:prstGeom>
          <a:solidFill>
            <a:srgbClr val="142B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70410" cy="3401695"/>
          </a:xfrm>
          <a:prstGeom prst="rect">
            <a:avLst/>
          </a:prstGeom>
          <a:solidFill>
            <a:srgbClr val="1B3874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603504"/>
            <a:ext cx="10058400" cy="16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1050" b="1">
                <a:solidFill>
                  <a:srgbClr val="C5D3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MILESTONE 4  ·  MID-TERM PRESENTATION</a:t>
            </a:r>
            <a:endParaRPr lang="en-US" altLang="zh-CN" sz="1050" b="1">
              <a:solidFill>
                <a:srgbClr val="C5D3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60120" y="1005840"/>
            <a:ext cx="1234440" cy="45720"/>
          </a:xfrm>
          <a:prstGeom prst="rect">
            <a:avLst/>
          </a:prstGeom>
          <a:solidFill>
            <a:srgbClr val="467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261872"/>
            <a:ext cx="10241280" cy="676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4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智能体动态记忆管理</a:t>
            </a:r>
            <a:endParaRPr lang="zh-CN" altLang="en-US" sz="4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241280" cy="282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Agent Dynamic Memory Management</a:t>
            </a:r>
            <a:endParaRPr sz="1700" b="0">
              <a:solidFill>
                <a:srgbClr val="B9CB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0120" y="2596896"/>
            <a:ext cx="10241280" cy="265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DB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基于 LoCoMo 的结构化记忆构建与动态状态解析 Web 应用</a:t>
            </a:r>
            <a:endParaRPr sz="1300" b="0">
              <a:solidFill>
                <a:srgbClr val="C5D3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3369564"/>
            <a:ext cx="12191695" cy="41148"/>
          </a:xfrm>
          <a:prstGeom prst="rect">
            <a:avLst/>
          </a:prstGeom>
          <a:solidFill>
            <a:srgbClr val="467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07008" y="3767328"/>
            <a:ext cx="978408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6DFF0"/>
            </a:solidFill>
          </a:ln>
          <a:effectLst>
            <a:outerShdw blurRad="111760" dist="14224" dir="5400000" algn="ctr" rotWithShape="0">
              <a:srgbClr val="8FA3C4">
                <a:alpha val="11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1"/>
            </p:custDataLst>
          </p:nvPr>
        </p:nvSpPr>
        <p:spPr>
          <a:xfrm>
            <a:off x="1627632" y="4298696"/>
            <a:ext cx="8138160" cy="3536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成员：</a:t>
            </a:r>
            <a:r>
              <a:rPr sz="20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王嘉淦　李胡诚　叶泽晨　马旻瑄　陈镇灏</a:t>
            </a:r>
            <a:endParaRPr sz="1350" b="1">
              <a:solidFill>
                <a:srgbClr val="1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2"/>
            </p:custDataLst>
          </p:nvPr>
        </p:nvSpPr>
        <p:spPr>
          <a:xfrm>
            <a:off x="1627632" y="4840986"/>
            <a:ext cx="813816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课程：</a:t>
            </a:r>
            <a:r>
              <a:rPr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Software Requirements Engineering</a:t>
            </a:r>
            <a:endParaRPr sz="1350" b="1">
              <a:solidFill>
                <a:srgbClr val="1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3"/>
            </p:custDataLst>
          </p:nvPr>
        </p:nvSpPr>
        <p:spPr>
          <a:xfrm>
            <a:off x="5334762" y="5347081"/>
            <a:ext cx="813816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2026-10</a:t>
            </a:r>
            <a:endParaRPr sz="1350" b="1">
              <a:solidFill>
                <a:srgbClr val="1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9"/>
          <p:cNvSpPr txBox="1"/>
          <p:nvPr/>
        </p:nvSpPr>
        <p:spPr>
          <a:xfrm>
            <a:off x="1718945" y="3766820"/>
            <a:ext cx="9052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SRE小组   ·   Team ID：第六组</a:t>
            </a:r>
            <a:endParaRPr sz="19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B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274320"/>
            <a:ext cx="68580" cy="402336"/>
          </a:xfrm>
          <a:prstGeom prst="rect">
            <a:avLst/>
          </a:prstGeom>
          <a:solidFill>
            <a:srgbClr val="467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89484"/>
            <a:ext cx="7315200" cy="553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项目背景与核心痛点</a:t>
            </a:r>
            <a:endParaRPr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2F62E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243584"/>
            <a:ext cx="1088136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6DFF0"/>
            </a:solidFill>
          </a:ln>
          <a:effectLst>
            <a:outerShdw blurRad="111760" dist="14224" dir="5400000" algn="ctr" rotWithShape="0">
              <a:srgbClr val="8FA3C4">
                <a:alpha val="11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243584"/>
            <a:ext cx="77724" cy="1078992"/>
          </a:xfrm>
          <a:prstGeom prst="roundRect">
            <a:avLst>
              <a:gd name="adj" fmla="val 50000"/>
            </a:avLst>
          </a:prstGeom>
          <a:solidFill>
            <a:srgbClr val="2F62E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615123"/>
            <a:ext cx="10332720" cy="3359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19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</a:t>
            </a:r>
            <a:r>
              <a:rPr lang="zh-CN" altLang="en-US" sz="19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痛点：普通向量检索无法判断记忆是否过时，导致 </a:t>
            </a:r>
            <a:r>
              <a:rPr lang="en-US" altLang="zh-CN" sz="19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19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被历史状态误导。</a:t>
            </a:r>
            <a:endParaRPr lang="zh-CN" altLang="en-US" sz="1900"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8368" y="2542032"/>
            <a:ext cx="3502152" cy="2788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D6DFF0"/>
            </a:solidFill>
          </a:ln>
          <a:effectLst>
            <a:outerShdw blurRad="111760" dist="14224" dir="5400000" algn="ctr" rotWithShape="0">
              <a:srgbClr val="8FA3C4">
                <a:alpha val="11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779776"/>
            <a:ext cx="29535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</a:t>
            </a:r>
            <a:r>
              <a:rPr sz="15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痛点定位</a:t>
            </a:r>
            <a:endParaRPr sz="15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32688" y="3163824"/>
            <a:ext cx="502920" cy="45720"/>
          </a:xfrm>
          <a:prstGeom prst="rect">
            <a:avLst/>
          </a:prstGeom>
          <a:solidFill>
            <a:srgbClr val="CBDCF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346704"/>
            <a:ext cx="2953512" cy="430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记忆会变化</a:t>
            </a:r>
            <a:r>
              <a:rPr sz="14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：长程对话中，用户状态、计划和偏好持续更新</a:t>
            </a:r>
            <a:r>
              <a:rPr sz="12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2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32053" y="3852672"/>
            <a:ext cx="2953512" cy="645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仅靠相关性召回不够：</a:t>
            </a:r>
            <a:r>
              <a:rPr sz="14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普通向量检索只能找到“相关”信息，无法判断“是否仍有效”。</a:t>
            </a:r>
            <a:endParaRPr sz="14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32053" y="4543425"/>
            <a:ext cx="2953512" cy="645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新旧状态混淆</a:t>
            </a:r>
            <a:r>
              <a:rPr sz="14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：系统容易同时召回当前状态与已被更新的历史状态，导致回答矛盾或错误。</a:t>
            </a:r>
            <a:endParaRPr sz="14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347972" y="2542032"/>
            <a:ext cx="3502152" cy="2788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D6DFF0"/>
            </a:solidFill>
          </a:ln>
          <a:effectLst>
            <a:outerShdw blurRad="111760" dist="14224" dir="5400000" algn="ctr" rotWithShape="0">
              <a:srgbClr val="8FA3C4">
                <a:alpha val="11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2292" y="2779776"/>
            <a:ext cx="29535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</a:t>
            </a:r>
            <a:r>
              <a:rPr sz="15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典型反例</a:t>
            </a:r>
            <a:endParaRPr sz="15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622292" y="3163824"/>
            <a:ext cx="502920" cy="45720"/>
          </a:xfrm>
          <a:prstGeom prst="rect">
            <a:avLst/>
          </a:prstGeom>
          <a:solidFill>
            <a:srgbClr val="CBDCF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22292" y="3346704"/>
            <a:ext cx="2953512" cy="430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情景：</a:t>
            </a:r>
            <a:r>
              <a:rPr sz="14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Gina 1月失业</a:t>
            </a:r>
            <a:r>
              <a:rPr lang="zh-CN" sz="14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于</a:t>
            </a:r>
            <a:r>
              <a:rPr sz="14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DoorDash，3月开了网店。</a:t>
            </a:r>
            <a:endParaRPr sz="14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622292" y="3872992"/>
            <a:ext cx="2953512" cy="645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sz="14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静态检索的缺陷：</a:t>
            </a:r>
            <a:r>
              <a:rPr sz="14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把“Gina 在 DoorDash 工作”当成当前事实召回，答错问题。</a:t>
            </a:r>
            <a:endParaRPr sz="14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22292" y="4543425"/>
            <a:ext cx="2953512" cy="645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我们系统的解法：识别出两者是 SUPERSEDE关系，以最新状态（开网店）作为有效记忆作答</a:t>
            </a:r>
            <a:r>
              <a:rPr sz="12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2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037576" y="2542032"/>
            <a:ext cx="3502152" cy="2788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D6DFF0"/>
            </a:solidFill>
          </a:ln>
          <a:effectLst>
            <a:outerShdw blurRad="111760" dist="14224" dir="5400000" algn="ctr" rotWithShape="0">
              <a:srgbClr val="8FA3C4">
                <a:alpha val="11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11896" y="2779776"/>
            <a:ext cx="29535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</a:t>
            </a:r>
            <a:r>
              <a:rPr sz="15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影响范围</a:t>
            </a:r>
            <a:endParaRPr sz="15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311896" y="3163824"/>
            <a:ext cx="502920" cy="45720"/>
          </a:xfrm>
          <a:prstGeom prst="rect">
            <a:avLst/>
          </a:prstGeom>
          <a:solidFill>
            <a:srgbClr val="CBDCF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11261" y="3377819"/>
            <a:ext cx="2953512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跨会话问答</a:t>
            </a:r>
            <a:endParaRPr lang="zh-CN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311896" y="3735832"/>
            <a:ext cx="2953512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lang="zh-CN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连续项目跟进</a:t>
            </a:r>
            <a:endParaRPr lang="zh-CN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311896" y="4114800"/>
            <a:ext cx="2953512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lang="zh-CN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角色扮演长线对话</a:t>
            </a:r>
            <a:endParaRPr lang="zh-CN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61035" y="5575935"/>
            <a:ext cx="1084199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zh-CN" sz="19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lang="zh-CN" altLang="en-US" sz="19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普通 RAG 停留在“静态检索”，本应用升级为“状态演化解析”，能</a:t>
            </a:r>
            <a:r>
              <a:rPr lang="zh-CN" altLang="en-US" sz="19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够判别过时、替代与冲突，定位当前有效记忆。</a:t>
            </a:r>
            <a:endParaRPr lang="zh-CN" altLang="en-US" sz="1900"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680960" y="6455664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93A1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SRE小组 · 第六组 ｜ 02 / 10</a:t>
            </a:r>
            <a:endParaRPr sz="850" b="0">
              <a:solidFill>
                <a:srgbClr val="93A1B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>
            <p:custDataLst>
              <p:tags r:id="rId1"/>
            </p:custDataLst>
          </p:nvPr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B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274320"/>
            <a:ext cx="68580" cy="402336"/>
          </a:xfrm>
          <a:prstGeom prst="rect">
            <a:avLst/>
          </a:prstGeom>
          <a:solidFill>
            <a:srgbClr val="467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89484"/>
            <a:ext cx="7315200" cy="553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需求范围</a:t>
            </a:r>
            <a:endParaRPr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2F62E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80960" y="6455664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93A1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SRE小组 · 第六组 ｜ 03 / 10</a:t>
            </a:r>
            <a:endParaRPr sz="850" b="0">
              <a:solidFill>
                <a:srgbClr val="93A1B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818120" y="306642"/>
            <a:ext cx="3977639" cy="3194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600" b="0">
                <a:solidFill>
                  <a:srgbClr val="C5D3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必做 / Bonus ｜ 实现状态</a:t>
            </a:r>
            <a:endParaRPr sz="1600" b="0">
              <a:solidFill>
                <a:srgbClr val="C5D3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658368" y="1225296"/>
            <a:ext cx="6675120" cy="4663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D6DFF0"/>
            </a:solidFill>
          </a:ln>
          <a:effectLst>
            <a:outerShdw blurRad="111760" dist="14224" dir="5400000" algn="ctr" rotWithShape="0">
              <a:srgbClr val="8FA3C4">
                <a:alpha val="11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2688" y="144475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In-Scope（必做）</a:t>
            </a:r>
            <a:endParaRPr sz="1900"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932688" y="1874519"/>
            <a:ext cx="5989320" cy="45720"/>
          </a:xfrm>
          <a:prstGeom prst="rect">
            <a:avLst/>
          </a:prstGeom>
          <a:solidFill>
            <a:srgbClr val="E8EFFC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2688" y="204825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F62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endParaRPr sz="1300" b="1">
              <a:solidFill>
                <a:srgbClr val="2F62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243584" y="2020824"/>
            <a:ext cx="4526280" cy="449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数据导入与解析：</a:t>
            </a:r>
            <a:r>
              <a:rPr sz="1200" b="0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 6 段 LoCoMo 对话（4 段开发 + 2 段测试），解析原始多会话对话数据。</a:t>
            </a:r>
            <a:endParaRPr sz="1200" b="0">
              <a:solidFill>
                <a:srgbClr val="445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6053328" y="202996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7F4EE"/>
          </a:solidFill>
          <a:ln w="9525">
            <a:solidFill>
              <a:srgbClr val="B9E2D2"/>
            </a:solidFill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53328" y="2029968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B8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已实现</a:t>
            </a:r>
            <a:endParaRPr sz="1050" b="1">
              <a:solidFill>
                <a:srgbClr val="1B8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932688" y="2551176"/>
            <a:ext cx="5760720" cy="9144"/>
          </a:xfrm>
          <a:prstGeom prst="rect">
            <a:avLst/>
          </a:prstGeom>
          <a:solidFill>
            <a:srgbClr val="ECF0F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2688" y="268833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F62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endParaRPr sz="1300" b="1">
              <a:solidFill>
                <a:srgbClr val="2F62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243584" y="2660904"/>
            <a:ext cx="4526280" cy="449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buClrTx/>
              <a:buSzTx/>
              <a:buFontTx/>
            </a:pPr>
            <a:r>
              <a:rPr sz="1200" b="1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结构化记忆抽取：</a:t>
            </a:r>
            <a:r>
              <a:rPr sz="1200" b="0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从对话中提取人物、时间等信息，构建包含内容、时间、来源会话的结构化 Memory。</a:t>
            </a:r>
            <a:endParaRPr sz="1200" b="0">
              <a:solidFill>
                <a:srgbClr val="445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6053328" y="267004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7F4EE"/>
          </a:solidFill>
          <a:ln w="9525">
            <a:solidFill>
              <a:srgbClr val="B9E2D2"/>
            </a:solidFill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53328" y="2670048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B8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已实现</a:t>
            </a:r>
            <a:endParaRPr sz="1050" b="1">
              <a:solidFill>
                <a:srgbClr val="1B8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932688" y="3191256"/>
            <a:ext cx="5760720" cy="9144"/>
          </a:xfrm>
          <a:prstGeom prst="rect">
            <a:avLst/>
          </a:prstGeom>
          <a:solidFill>
            <a:srgbClr val="ECF0F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32688" y="332841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F62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</a:t>
            </a:r>
            <a:endParaRPr sz="1300" b="1">
              <a:solidFill>
                <a:srgbClr val="2F62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243584" y="3300984"/>
            <a:ext cx="4526280" cy="449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buClrTx/>
              <a:buSzTx/>
              <a:buFontTx/>
            </a:pPr>
            <a:r>
              <a:rPr sz="1200" b="1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 JSON 导出：</a:t>
            </a:r>
            <a:r>
              <a:rPr sz="1200" b="0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支持将所有构建好的结构化 Memory 统一导出为 JSON 格式文件。</a:t>
            </a:r>
            <a:endParaRPr sz="1200" b="0">
              <a:solidFill>
                <a:srgbClr val="445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6053328" y="331012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7F4EE"/>
          </a:solidFill>
          <a:ln w="9525">
            <a:solidFill>
              <a:srgbClr val="B9E2D2"/>
            </a:solidFill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053328" y="3310128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B8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已实现</a:t>
            </a:r>
            <a:endParaRPr sz="1050" b="1">
              <a:solidFill>
                <a:srgbClr val="1B8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932688" y="3831336"/>
            <a:ext cx="5760720" cy="9144"/>
          </a:xfrm>
          <a:prstGeom prst="rect">
            <a:avLst/>
          </a:prstGeom>
          <a:solidFill>
            <a:srgbClr val="ECF0F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32688" y="396849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F62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</a:t>
            </a:r>
            <a:endParaRPr sz="1300" b="1">
              <a:solidFill>
                <a:srgbClr val="2F62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243584" y="3941063"/>
            <a:ext cx="4526280" cy="449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buClrTx/>
              <a:buSzTx/>
              <a:buFontTx/>
            </a:pPr>
            <a:r>
              <a:rPr sz="1200" b="1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 端记忆可视化</a:t>
            </a:r>
            <a:r>
              <a:rPr sz="1200" b="0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：在 Web 界面中展示构建的结构化 Memory 及其对应的原始对话证据。</a:t>
            </a:r>
            <a:endParaRPr sz="1200" b="0">
              <a:solidFill>
                <a:srgbClr val="445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6053328" y="395020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7F4EE"/>
          </a:solidFill>
          <a:ln w="9525">
            <a:solidFill>
              <a:srgbClr val="B9E2D2"/>
            </a:solidFill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053328" y="3950208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B8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已实现</a:t>
            </a:r>
            <a:endParaRPr sz="1050" b="1">
              <a:solidFill>
                <a:srgbClr val="1B8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932688" y="4471416"/>
            <a:ext cx="5760720" cy="9144"/>
          </a:xfrm>
          <a:prstGeom prst="rect">
            <a:avLst/>
          </a:prstGeom>
          <a:solidFill>
            <a:srgbClr val="ECF0F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32688" y="460857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F62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</a:t>
            </a:r>
            <a:endParaRPr sz="1300" b="1">
              <a:solidFill>
                <a:srgbClr val="2F62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243330" y="4580890"/>
            <a:ext cx="4853305" cy="449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buClrTx/>
              <a:buSzTx/>
              <a:buFontTx/>
            </a:pPr>
            <a:r>
              <a:rPr sz="1200" b="1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动态记忆状态解析</a:t>
            </a:r>
            <a:r>
              <a:rPr sz="1200" b="0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：针对输入检索相关 Memory，利用 LLM 判断记忆间的 RETAIN / UPDATE / SUPERSEDE / CONFLICT 关系。</a:t>
            </a:r>
            <a:endParaRPr sz="1200" b="0">
              <a:solidFill>
                <a:srgbClr val="445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6053328" y="459028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7F4EE"/>
          </a:solidFill>
          <a:ln w="9525">
            <a:solidFill>
              <a:srgbClr val="B9E2D2"/>
            </a:solidFill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053328" y="4590288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B8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已实现</a:t>
            </a:r>
            <a:endParaRPr sz="1050" b="1">
              <a:solidFill>
                <a:srgbClr val="1B8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932688" y="5111496"/>
            <a:ext cx="5760720" cy="9144"/>
          </a:xfrm>
          <a:prstGeom prst="rect">
            <a:avLst/>
          </a:prstGeom>
          <a:solidFill>
            <a:srgbClr val="ECF0F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32688" y="524865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F62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</a:t>
            </a:r>
            <a:endParaRPr sz="1300" b="1">
              <a:solidFill>
                <a:srgbClr val="2F62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243584" y="5221224"/>
            <a:ext cx="4526280" cy="449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buClrTx/>
              <a:buSzTx/>
              <a:buFontTx/>
            </a:pPr>
            <a:r>
              <a:rPr sz="1200" b="1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有效记忆问答与展示：</a:t>
            </a:r>
            <a:r>
              <a:rPr sz="1200" b="0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确定当前有效 Memory 并生成最终回答，Web 端同步展示检索证据与状态解析全过程。</a:t>
            </a:r>
            <a:endParaRPr sz="1200" b="0">
              <a:solidFill>
                <a:srgbClr val="445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6053328" y="523036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7F4EE"/>
          </a:solidFill>
          <a:ln w="9525">
            <a:solidFill>
              <a:srgbClr val="B9E2D2"/>
            </a:solidFill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053328" y="5230368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B8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已实现</a:t>
            </a:r>
            <a:endParaRPr sz="1050" b="1">
              <a:solidFill>
                <a:srgbClr val="1B8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7516368" y="1225296"/>
            <a:ext cx="4023360" cy="4663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D6DFF0"/>
            </a:solidFill>
          </a:ln>
          <a:effectLst>
            <a:outerShdw blurRad="111760" dist="14224" dir="5400000" algn="ctr" rotWithShape="0">
              <a:srgbClr val="8FA3C4">
                <a:alpha val="11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790688" y="1444752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Bonus</a:t>
            </a:r>
            <a:endParaRPr sz="1900"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7790688" y="1874519"/>
            <a:ext cx="3611880" cy="45720"/>
          </a:xfrm>
          <a:prstGeom prst="rect">
            <a:avLst/>
          </a:prstGeom>
          <a:solidFill>
            <a:srgbClr val="E8EFFC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680833" y="2064766"/>
            <a:ext cx="2286000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buClrTx/>
              <a:buSzTx/>
              <a:buFontTx/>
            </a:pPr>
            <a:r>
              <a:rPr sz="1050" b="0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</a:t>
            </a:r>
            <a:r>
              <a:rPr sz="1400" b="0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复杂冲突消解与多版本保留</a:t>
            </a:r>
            <a:endParaRPr sz="1400" b="0">
              <a:solidFill>
                <a:srgbClr val="445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10332720" y="202996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7F4EE"/>
          </a:solidFill>
          <a:ln w="9525">
            <a:solidFill>
              <a:srgbClr val="B9E2D2"/>
            </a:solidFill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332720" y="2029968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B8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已实现</a:t>
            </a:r>
            <a:endParaRPr sz="1050" b="1">
              <a:solidFill>
                <a:srgbClr val="1B8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7790688" y="2551176"/>
            <a:ext cx="3611880" cy="9144"/>
          </a:xfrm>
          <a:prstGeom prst="rect">
            <a:avLst/>
          </a:prstGeom>
          <a:solidFill>
            <a:srgbClr val="ECF0F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680960" y="2688590"/>
            <a:ext cx="2825115" cy="421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ClrTx/>
              <a:buSzTx/>
              <a:buFontTx/>
            </a:pPr>
            <a:r>
              <a:rPr sz="1400" b="0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Graph Memory / 多跳关系建模</a:t>
            </a:r>
            <a:endParaRPr sz="1400" b="0">
              <a:solidFill>
                <a:srgbClr val="445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10332720" y="267004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EEFF4"/>
          </a:solidFill>
          <a:ln w="9525">
            <a:solidFill>
              <a:srgbClr val="D3D7E0"/>
            </a:solidFill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332720" y="2670048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未实现</a:t>
            </a:r>
            <a:endParaRPr sz="1050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7790688" y="3191256"/>
            <a:ext cx="3611880" cy="9144"/>
          </a:xfrm>
          <a:prstGeom prst="rect">
            <a:avLst/>
          </a:prstGeom>
          <a:solidFill>
            <a:srgbClr val="ECF0F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680833" y="3328416"/>
            <a:ext cx="2286000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buClrTx/>
              <a:buSzTx/>
              <a:buFontTx/>
            </a:pPr>
            <a:r>
              <a:rPr sz="1400" b="0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Memory 合并与压缩</a:t>
            </a:r>
            <a:endParaRPr sz="1400" b="0">
              <a:solidFill>
                <a:srgbClr val="445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10332720" y="331012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DF3E3"/>
          </a:solidFill>
          <a:ln w="9525">
            <a:solidFill>
              <a:srgbClr val="F4D8A8"/>
            </a:solidFill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332720" y="3375787"/>
            <a:ext cx="868680" cy="161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B2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部分</a:t>
            </a:r>
            <a:r>
              <a:rPr lang="zh-CN" sz="1050" b="1">
                <a:solidFill>
                  <a:srgbClr val="B2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</a:t>
            </a:r>
            <a:endParaRPr lang="zh-CN" sz="1050" b="1">
              <a:solidFill>
                <a:srgbClr val="B26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7790688" y="3831336"/>
            <a:ext cx="3611880" cy="9144"/>
          </a:xfrm>
          <a:prstGeom prst="rect">
            <a:avLst/>
          </a:prstGeom>
          <a:solidFill>
            <a:srgbClr val="ECF0F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680833" y="3968496"/>
            <a:ext cx="2286000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buClrTx/>
              <a:buSzTx/>
              <a:buFontTx/>
            </a:pPr>
            <a:r>
              <a:rPr sz="1400" b="0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自适应检索 / 复杂时间推理</a:t>
            </a:r>
            <a:endParaRPr sz="1400" b="0">
              <a:solidFill>
                <a:srgbClr val="445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10332720" y="395020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DF3E3"/>
          </a:solidFill>
          <a:ln w="9525">
            <a:solidFill>
              <a:srgbClr val="F4D8A8"/>
            </a:solidFill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332720" y="4015867"/>
            <a:ext cx="868680" cy="161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sz="1050" b="1">
                <a:solidFill>
                  <a:srgbClr val="B2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部分实现</a:t>
            </a:r>
            <a:endParaRPr lang="zh-CN" sz="1050" b="1">
              <a:solidFill>
                <a:srgbClr val="B26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6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B5E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8"/>
          <p:cNvSpPr/>
          <p:nvPr/>
        </p:nvSpPr>
        <p:spPr>
          <a:xfrm>
            <a:off x="384048" y="274320"/>
            <a:ext cx="68580" cy="402336"/>
          </a:xfrm>
          <a:prstGeom prst="rect">
            <a:avLst/>
          </a:prstGeom>
          <a:solidFill>
            <a:srgbClr val="467CF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10"/>
          <p:cNvSpPr txBox="1"/>
          <p:nvPr/>
        </p:nvSpPr>
        <p:spPr>
          <a:xfrm>
            <a:off x="621792" y="189484"/>
            <a:ext cx="7315200" cy="55372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</a:t>
            </a:r>
            <a:endParaRPr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12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2F62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14"/>
          <p:cNvSpPr/>
          <p:nvPr/>
        </p:nvSpPr>
        <p:spPr>
          <a:xfrm>
            <a:off x="570847" y="1050000"/>
            <a:ext cx="1700000" cy="420000"/>
          </a:xfrm>
          <a:prstGeom prst="roundRect">
            <a:avLst>
              <a:gd name="adj" fmla="val 4500"/>
            </a:avLst>
          </a:prstGeom>
          <a:solidFill>
            <a:srgbClr val="E8EFFC"/>
          </a:solidFill>
          <a:ln w="11430">
            <a:solidFill>
              <a:srgbClr val="2F62E8"/>
            </a:solidFill>
          </a:ln>
        </p:spPr>
        <p:txBody>
          <a:bodyPr/>
          <a:lstStyle/>
          <a:p/>
        </p:txBody>
      </p:sp>
      <p:sp>
        <p:nvSpPr>
          <p:cNvPr id="15" name="T16"/>
          <p:cNvSpPr txBox="1"/>
          <p:nvPr/>
        </p:nvSpPr>
        <p:spPr>
          <a:xfrm>
            <a:off x="570847" y="1106330"/>
            <a:ext cx="1700000" cy="30734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ctr"/>
            <a:r>
              <a:rPr sz="20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提问</a:t>
            </a:r>
            <a:endParaRPr sz="2000"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A18"/>
          <p:cNvSpPr/>
          <p:nvPr/>
        </p:nvSpPr>
        <p:spPr>
          <a:xfrm>
            <a:off x="2285847" y="1150000"/>
            <a:ext cx="140000" cy="220000"/>
          </a:xfrm>
          <a:prstGeom prst="rightArrow">
            <a:avLst/>
          </a:prstGeom>
          <a:solidFill>
            <a:srgbClr val="467C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20"/>
          <p:cNvSpPr/>
          <p:nvPr/>
        </p:nvSpPr>
        <p:spPr>
          <a:xfrm>
            <a:off x="2440847" y="1050000"/>
            <a:ext cx="1700000" cy="420000"/>
          </a:xfrm>
          <a:prstGeom prst="roundRect">
            <a:avLst>
              <a:gd name="adj" fmla="val 4500"/>
            </a:avLst>
          </a:prstGeom>
          <a:solidFill>
            <a:srgbClr val="E8EFFC"/>
          </a:solidFill>
          <a:ln w="11430">
            <a:solidFill>
              <a:srgbClr val="2F62E8"/>
            </a:solidFill>
          </a:ln>
        </p:spPr>
        <p:txBody>
          <a:bodyPr/>
          <a:lstStyle/>
          <a:p/>
        </p:txBody>
      </p:sp>
      <p:sp>
        <p:nvSpPr>
          <p:cNvPr id="21" name="T22"/>
          <p:cNvSpPr txBox="1"/>
          <p:nvPr/>
        </p:nvSpPr>
        <p:spPr>
          <a:xfrm>
            <a:off x="2440847" y="1106330"/>
            <a:ext cx="1700000" cy="30734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20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接口转发</a:t>
            </a:r>
            <a:endParaRPr sz="2000"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A24"/>
          <p:cNvSpPr/>
          <p:nvPr/>
        </p:nvSpPr>
        <p:spPr>
          <a:xfrm>
            <a:off x="4155847" y="1150000"/>
            <a:ext cx="140000" cy="220000"/>
          </a:xfrm>
          <a:prstGeom prst="rightArrow">
            <a:avLst/>
          </a:prstGeom>
          <a:solidFill>
            <a:srgbClr val="467C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26"/>
          <p:cNvSpPr/>
          <p:nvPr/>
        </p:nvSpPr>
        <p:spPr>
          <a:xfrm>
            <a:off x="4310847" y="1050000"/>
            <a:ext cx="1700000" cy="420000"/>
          </a:xfrm>
          <a:prstGeom prst="roundRect">
            <a:avLst>
              <a:gd name="adj" fmla="val 4500"/>
            </a:avLst>
          </a:prstGeom>
          <a:solidFill>
            <a:srgbClr val="FDEBD0"/>
          </a:solidFill>
          <a:ln w="11430">
            <a:solidFill>
              <a:srgbClr val="2F62E8"/>
            </a:solidFill>
          </a:ln>
        </p:spPr>
        <p:txBody>
          <a:bodyPr/>
          <a:lstStyle/>
          <a:p/>
        </p:txBody>
      </p:sp>
      <p:sp>
        <p:nvSpPr>
          <p:cNvPr id="27" name="T28"/>
          <p:cNvSpPr txBox="1"/>
          <p:nvPr/>
        </p:nvSpPr>
        <p:spPr>
          <a:xfrm>
            <a:off x="4046220" y="1106488"/>
            <a:ext cx="2134870" cy="30734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20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检索+判</a:t>
            </a:r>
            <a:r>
              <a:rPr lang="zh-CN" sz="20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断</a:t>
            </a:r>
            <a:endParaRPr lang="zh-CN" sz="2000"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A30"/>
          <p:cNvSpPr/>
          <p:nvPr/>
        </p:nvSpPr>
        <p:spPr>
          <a:xfrm>
            <a:off x="6025847" y="1150000"/>
            <a:ext cx="140000" cy="220000"/>
          </a:xfrm>
          <a:prstGeom prst="rightArrow">
            <a:avLst/>
          </a:prstGeom>
          <a:solidFill>
            <a:srgbClr val="467CF6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R32"/>
          <p:cNvSpPr/>
          <p:nvPr/>
        </p:nvSpPr>
        <p:spPr>
          <a:xfrm>
            <a:off x="6180847" y="1050000"/>
            <a:ext cx="1700000" cy="420000"/>
          </a:xfrm>
          <a:prstGeom prst="roundRect">
            <a:avLst>
              <a:gd name="adj" fmla="val 4500"/>
            </a:avLst>
          </a:prstGeom>
          <a:solidFill>
            <a:srgbClr val="E8F6EC"/>
          </a:solidFill>
          <a:ln w="11430">
            <a:solidFill>
              <a:srgbClr val="2F62E8"/>
            </a:solidFill>
          </a:ln>
        </p:spPr>
        <p:txBody>
          <a:bodyPr/>
          <a:lstStyle/>
          <a:p/>
        </p:txBody>
      </p:sp>
      <p:sp>
        <p:nvSpPr>
          <p:cNvPr id="33" name="T34"/>
          <p:cNvSpPr txBox="1"/>
          <p:nvPr/>
        </p:nvSpPr>
        <p:spPr>
          <a:xfrm>
            <a:off x="6180847" y="1106330"/>
            <a:ext cx="1700000" cy="30734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20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存取数据</a:t>
            </a:r>
            <a:endParaRPr sz="2000"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A36"/>
          <p:cNvSpPr/>
          <p:nvPr/>
        </p:nvSpPr>
        <p:spPr>
          <a:xfrm>
            <a:off x="7895847" y="1150000"/>
            <a:ext cx="140000" cy="220000"/>
          </a:xfrm>
          <a:prstGeom prst="rightArrow">
            <a:avLst/>
          </a:prstGeom>
          <a:solidFill>
            <a:srgbClr val="467CF6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R38"/>
          <p:cNvSpPr/>
          <p:nvPr/>
        </p:nvSpPr>
        <p:spPr>
          <a:xfrm>
            <a:off x="8050847" y="1050000"/>
            <a:ext cx="1700000" cy="420000"/>
          </a:xfrm>
          <a:prstGeom prst="roundRect">
            <a:avLst>
              <a:gd name="adj" fmla="val 4500"/>
            </a:avLst>
          </a:prstGeom>
          <a:solidFill>
            <a:srgbClr val="FDEBD0"/>
          </a:solidFill>
          <a:ln w="11430">
            <a:solidFill>
              <a:srgbClr val="2F62E8"/>
            </a:solidFill>
          </a:ln>
        </p:spPr>
        <p:txBody>
          <a:bodyPr/>
          <a:lstStyle/>
          <a:p/>
        </p:txBody>
      </p:sp>
      <p:sp>
        <p:nvSpPr>
          <p:cNvPr id="39" name="T40"/>
          <p:cNvSpPr txBox="1"/>
          <p:nvPr/>
        </p:nvSpPr>
        <p:spPr>
          <a:xfrm>
            <a:off x="8050847" y="1106330"/>
            <a:ext cx="1700000" cy="30734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20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生成答案</a:t>
            </a:r>
            <a:endParaRPr sz="2000"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A42"/>
          <p:cNvSpPr/>
          <p:nvPr/>
        </p:nvSpPr>
        <p:spPr>
          <a:xfrm>
            <a:off x="9765847" y="1150000"/>
            <a:ext cx="140000" cy="220000"/>
          </a:xfrm>
          <a:prstGeom prst="rightArrow">
            <a:avLst/>
          </a:prstGeom>
          <a:solidFill>
            <a:srgbClr val="467CF6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R44"/>
          <p:cNvSpPr/>
          <p:nvPr/>
        </p:nvSpPr>
        <p:spPr>
          <a:xfrm>
            <a:off x="9920847" y="1050000"/>
            <a:ext cx="1700000" cy="420000"/>
          </a:xfrm>
          <a:prstGeom prst="roundRect">
            <a:avLst>
              <a:gd name="adj" fmla="val 4500"/>
            </a:avLst>
          </a:prstGeom>
          <a:solidFill>
            <a:srgbClr val="E8EFFC"/>
          </a:solidFill>
          <a:ln w="11430">
            <a:solidFill>
              <a:srgbClr val="2F62E8"/>
            </a:solidFill>
          </a:ln>
        </p:spPr>
        <p:txBody>
          <a:bodyPr/>
          <a:lstStyle/>
          <a:p/>
        </p:txBody>
      </p:sp>
      <p:sp>
        <p:nvSpPr>
          <p:cNvPr id="45" name="T46"/>
          <p:cNvSpPr txBox="1"/>
          <p:nvPr/>
        </p:nvSpPr>
        <p:spPr>
          <a:xfrm>
            <a:off x="9920847" y="1106330"/>
            <a:ext cx="1700000" cy="30734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20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展示</a:t>
            </a:r>
            <a:endParaRPr sz="2000"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R48"/>
          <p:cNvSpPr/>
          <p:nvPr/>
        </p:nvSpPr>
        <p:spPr>
          <a:xfrm>
            <a:off x="457200" y="1750000"/>
            <a:ext cx="11277295" cy="520000"/>
          </a:xfrm>
          <a:prstGeom prst="rect">
            <a:avLst/>
          </a:prstGeom>
          <a:solidFill>
            <a:srgbClr val="2F62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T50"/>
          <p:cNvSpPr txBox="1"/>
          <p:nvPr/>
        </p:nvSpPr>
        <p:spPr>
          <a:xfrm>
            <a:off x="457200" y="1856330"/>
            <a:ext cx="2300000" cy="30734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52"/>
          <p:cNvSpPr txBox="1"/>
          <p:nvPr/>
        </p:nvSpPr>
        <p:spPr>
          <a:xfrm>
            <a:off x="2757200" y="1856330"/>
            <a:ext cx="2500000" cy="30734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lang="zh-CN"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</a:t>
            </a: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术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54"/>
          <p:cNvSpPr txBox="1"/>
          <p:nvPr/>
        </p:nvSpPr>
        <p:spPr>
          <a:xfrm>
            <a:off x="5257200" y="1856330"/>
            <a:ext cx="6477295" cy="30734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作用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R56"/>
          <p:cNvSpPr/>
          <p:nvPr/>
        </p:nvSpPr>
        <p:spPr>
          <a:xfrm>
            <a:off x="2757200" y="1750000"/>
            <a:ext cx="20000" cy="3200000"/>
          </a:xfrm>
          <a:prstGeom prst="rect">
            <a:avLst/>
          </a:prstGeom>
          <a:solidFill>
            <a:srgbClr val="D6DF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R58"/>
          <p:cNvSpPr/>
          <p:nvPr/>
        </p:nvSpPr>
        <p:spPr>
          <a:xfrm>
            <a:off x="5257200" y="1750000"/>
            <a:ext cx="20000" cy="3200000"/>
          </a:xfrm>
          <a:prstGeom prst="rect">
            <a:avLst/>
          </a:prstGeom>
          <a:solidFill>
            <a:srgbClr val="D6DF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R60"/>
          <p:cNvSpPr/>
          <p:nvPr/>
        </p:nvSpPr>
        <p:spPr>
          <a:xfrm>
            <a:off x="457200" y="2270000"/>
            <a:ext cx="11277295" cy="6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T62"/>
          <p:cNvSpPr txBox="1"/>
          <p:nvPr/>
        </p:nvSpPr>
        <p:spPr>
          <a:xfrm>
            <a:off x="457200" y="2466570"/>
            <a:ext cx="2300000" cy="27686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前端展示层</a:t>
            </a:r>
            <a:endParaRPr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T64"/>
          <p:cNvSpPr txBox="1"/>
          <p:nvPr/>
        </p:nvSpPr>
        <p:spPr>
          <a:xfrm>
            <a:off x="2757200" y="2466570"/>
            <a:ext cx="2500000" cy="27686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ctr"/>
            <a:r>
              <a:rPr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React</a:t>
            </a:r>
            <a:endParaRPr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T66"/>
          <p:cNvSpPr txBox="1"/>
          <p:nvPr/>
        </p:nvSpPr>
        <p:spPr>
          <a:xfrm>
            <a:off x="5257200" y="2466570"/>
            <a:ext cx="6477295" cy="27686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ctr"/>
            <a:r>
              <a:rPr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浏览记忆、提问、查看证据与答案</a:t>
            </a:r>
            <a:endParaRPr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R68"/>
          <p:cNvSpPr/>
          <p:nvPr/>
        </p:nvSpPr>
        <p:spPr>
          <a:xfrm>
            <a:off x="457200" y="2940000"/>
            <a:ext cx="11277295" cy="670000"/>
          </a:xfrm>
          <a:prstGeom prst="rect">
            <a:avLst/>
          </a:prstGeom>
          <a:solidFill>
            <a:srgbClr val="EFF3FA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T70"/>
          <p:cNvSpPr txBox="1"/>
          <p:nvPr/>
        </p:nvSpPr>
        <p:spPr>
          <a:xfrm>
            <a:off x="477520" y="3136570"/>
            <a:ext cx="2300000" cy="27686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API 服务层</a:t>
            </a:r>
            <a:endParaRPr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T72"/>
          <p:cNvSpPr txBox="1"/>
          <p:nvPr/>
        </p:nvSpPr>
        <p:spPr>
          <a:xfrm>
            <a:off x="2757200" y="3136570"/>
            <a:ext cx="2500000" cy="27686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ctr"/>
            <a:r>
              <a:rPr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FastAP</a:t>
            </a:r>
            <a:r>
              <a:rPr lang="en-US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endParaRPr lang="en-US" sz="1150"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T74"/>
          <p:cNvSpPr txBox="1"/>
          <p:nvPr/>
        </p:nvSpPr>
        <p:spPr>
          <a:xfrm>
            <a:off x="5257200" y="3136570"/>
            <a:ext cx="6477295" cy="27686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ctr"/>
            <a:r>
              <a:rPr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接收请求、转发导入 / 构建 / 检索 / 问答接口</a:t>
            </a:r>
            <a:endParaRPr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R76"/>
          <p:cNvSpPr/>
          <p:nvPr/>
        </p:nvSpPr>
        <p:spPr>
          <a:xfrm>
            <a:off x="457200" y="3610000"/>
            <a:ext cx="11277295" cy="6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7" name="T78"/>
          <p:cNvSpPr txBox="1"/>
          <p:nvPr/>
        </p:nvSpPr>
        <p:spPr>
          <a:xfrm>
            <a:off x="457200" y="3806570"/>
            <a:ext cx="2300000" cy="27686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检索与推理层</a:t>
            </a:r>
            <a:endParaRPr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T80"/>
          <p:cNvSpPr txBox="1"/>
          <p:nvPr/>
        </p:nvSpPr>
        <p:spPr>
          <a:xfrm>
            <a:off x="2757200" y="3806570"/>
            <a:ext cx="2500000" cy="27686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ctr"/>
            <a:r>
              <a:rPr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TF-IDF + 规则/LLM</a:t>
            </a:r>
            <a:endParaRPr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T82"/>
          <p:cNvSpPr txBox="1"/>
          <p:nvPr/>
        </p:nvSpPr>
        <p:spPr>
          <a:xfrm>
            <a:off x="5277520" y="3806570"/>
            <a:ext cx="6477295" cy="27686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ctr"/>
            <a:r>
              <a:rPr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找相关记忆 → 判断过时/替代/冲突 → 只保留有效记忆</a:t>
            </a:r>
            <a:endParaRPr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R84"/>
          <p:cNvSpPr/>
          <p:nvPr/>
        </p:nvSpPr>
        <p:spPr>
          <a:xfrm>
            <a:off x="457200" y="4280000"/>
            <a:ext cx="11277295" cy="670000"/>
          </a:xfrm>
          <a:prstGeom prst="rect">
            <a:avLst/>
          </a:prstGeom>
          <a:solidFill>
            <a:srgbClr val="EFF3FA"/>
          </a:solidFill>
          <a:ln>
            <a:noFill/>
          </a:ln>
        </p:spPr>
        <p:txBody>
          <a:bodyPr/>
          <a:lstStyle/>
          <a:p/>
        </p:txBody>
      </p:sp>
      <p:sp>
        <p:nvSpPr>
          <p:cNvPr id="85" name="T86"/>
          <p:cNvSpPr txBox="1"/>
          <p:nvPr/>
        </p:nvSpPr>
        <p:spPr>
          <a:xfrm>
            <a:off x="457200" y="4476570"/>
            <a:ext cx="2300000" cy="27686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数据存储层</a:t>
            </a:r>
            <a:endParaRPr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T88"/>
          <p:cNvSpPr txBox="1"/>
          <p:nvPr/>
        </p:nvSpPr>
        <p:spPr>
          <a:xfrm>
            <a:off x="2757200" y="4476570"/>
            <a:ext cx="2500000" cy="27686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ctr"/>
            <a:r>
              <a:rPr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SQLite</a:t>
            </a:r>
            <a:endParaRPr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T90"/>
          <p:cNvSpPr txBox="1"/>
          <p:nvPr/>
        </p:nvSpPr>
        <p:spPr>
          <a:xfrm>
            <a:off x="5257200" y="4476570"/>
            <a:ext cx="6477295" cy="27686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ctr"/>
            <a:r>
              <a:rPr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存储对话、记忆与查询结果</a:t>
            </a:r>
            <a:endParaRPr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R92"/>
          <p:cNvSpPr/>
          <p:nvPr/>
        </p:nvSpPr>
        <p:spPr>
          <a:xfrm>
            <a:off x="457200" y="5080000"/>
            <a:ext cx="11277295" cy="13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D6DFF0"/>
            </a:solidFill>
          </a:ln>
          <a:effectLst>
            <a:outerShdw blurRad="111760" dist="14224" dir="5400000" algn="ctr" rotWithShape="0">
              <a:srgbClr val="8FA3C4">
                <a:alpha val="11000"/>
              </a:srgbClr>
            </a:outerShdw>
          </a:effectLst>
        </p:spPr>
        <p:txBody>
          <a:bodyPr/>
          <a:lstStyle/>
          <a:p/>
        </p:txBody>
      </p:sp>
      <p:sp>
        <p:nvSpPr>
          <p:cNvPr id="93" name="T94"/>
          <p:cNvSpPr txBox="1"/>
          <p:nvPr/>
        </p:nvSpPr>
        <p:spPr>
          <a:xfrm>
            <a:off x="621665" y="5134415"/>
            <a:ext cx="4000000" cy="30734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关键设计点</a:t>
            </a:r>
            <a:endParaRPr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T96"/>
          <p:cNvSpPr txBox="1"/>
          <p:nvPr/>
        </p:nvSpPr>
        <p:spPr>
          <a:xfrm>
            <a:off x="621665" y="5539812"/>
            <a:ext cx="5200000" cy="245745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可追溯防幻觉</a:t>
            </a:r>
            <a:r>
              <a:rPr sz="16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：每条记忆带出处，答案能查回原文</a:t>
            </a:r>
            <a:endParaRPr sz="160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T98"/>
          <p:cNvSpPr txBox="1"/>
          <p:nvPr/>
        </p:nvSpPr>
        <p:spPr>
          <a:xfrm>
            <a:off x="5840095" y="5254625"/>
            <a:ext cx="5817235" cy="815975"/>
          </a:xfrm>
          <a:prstGeom prst="rect">
            <a:avLst/>
          </a:prstGeom>
          <a:noFill/>
        </p:spPr>
        <p:txBody>
          <a:bodyPr wrap="square" lIns="137160" tIns="0" rIns="137160" bIns="0" anchor="ctr">
            <a:no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轻量易部署：</a:t>
            </a:r>
            <a:r>
              <a:rPr sz="16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无重型向量库，SQLite + TF-IDF 即可跑</a:t>
            </a:r>
            <a:endParaRPr sz="160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T100"/>
          <p:cNvSpPr txBox="1"/>
          <p:nvPr/>
        </p:nvSpPr>
        <p:spPr>
          <a:xfrm>
            <a:off x="570865" y="5980452"/>
            <a:ext cx="5200000" cy="245745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固定四步</a:t>
            </a:r>
            <a:r>
              <a:rPr sz="16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：粗筛 → 判关系 → 解析有效 → 生成答案</a:t>
            </a:r>
            <a:endParaRPr sz="160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T102"/>
          <p:cNvSpPr txBox="1"/>
          <p:nvPr/>
        </p:nvSpPr>
        <p:spPr>
          <a:xfrm>
            <a:off x="5840095" y="5925820"/>
            <a:ext cx="5309870" cy="355600"/>
          </a:xfrm>
          <a:prstGeom prst="rect">
            <a:avLst/>
          </a:prstGeom>
          <a:noFill/>
        </p:spPr>
        <p:txBody>
          <a:bodyPr wrap="square" lIns="137160" tIns="0" rIns="137160" bIns="0" anchor="ctr">
            <a:no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LLM 双模式</a:t>
            </a:r>
            <a:r>
              <a:rPr lang="zh-CN" sz="16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16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 Key 用 mock ，配 Key 接真</a:t>
            </a:r>
            <a:r>
              <a:rPr lang="zh-CN" sz="16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</a:t>
            </a:r>
            <a:r>
              <a:rPr sz="16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型</a:t>
            </a:r>
            <a:endParaRPr sz="160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T104"/>
          <p:cNvSpPr txBox="1"/>
          <p:nvPr/>
        </p:nvSpPr>
        <p:spPr>
          <a:xfrm>
            <a:off x="7680960" y="6455664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>
                <a:solidFill>
                  <a:srgbClr val="93A1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SRE小组 · 第六组 ｜ 04 / 10</a:t>
            </a:r>
            <a:endParaRPr sz="850">
              <a:solidFill>
                <a:srgbClr val="93A1B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6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B5E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8"/>
          <p:cNvSpPr/>
          <p:nvPr/>
        </p:nvSpPr>
        <p:spPr>
          <a:xfrm>
            <a:off x="384048" y="274320"/>
            <a:ext cx="68580" cy="402336"/>
          </a:xfrm>
          <a:prstGeom prst="rect">
            <a:avLst/>
          </a:prstGeom>
          <a:solidFill>
            <a:srgbClr val="467CF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10"/>
          <p:cNvSpPr txBox="1"/>
          <p:nvPr/>
        </p:nvSpPr>
        <p:spPr>
          <a:xfrm>
            <a:off x="621792" y="164592"/>
            <a:ext cx="7315200" cy="603504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项目结构</a:t>
            </a:r>
            <a:endParaRPr sz="2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12"/>
          <p:cNvSpPr txBox="1"/>
          <p:nvPr/>
        </p:nvSpPr>
        <p:spPr>
          <a:xfrm>
            <a:off x="7315200" y="201168"/>
            <a:ext cx="4477639" cy="530352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r"/>
            <a:r>
              <a:rPr sz="1250">
                <a:solidFill>
                  <a:srgbClr val="C7D3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仓库目录 · 前端 · 后端 · 过程文档</a:t>
            </a:r>
            <a:endParaRPr sz="1250">
              <a:solidFill>
                <a:srgbClr val="C7D3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14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2F62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16"/>
          <p:cNvSpPr/>
          <p:nvPr/>
        </p:nvSpPr>
        <p:spPr>
          <a:xfrm>
            <a:off x="457200" y="1150000"/>
            <a:ext cx="3637178" cy="478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6DFF0"/>
            </a:solidFill>
          </a:ln>
          <a:effectLst>
            <a:outerShdw blurRad="111760" dist="14224" dir="5400000" algn="ctr" rotWithShape="0">
              <a:srgbClr val="8FA3C4">
                <a:alpha val="11000"/>
              </a:srgbClr>
            </a:outerShdw>
          </a:effectLst>
        </p:spPr>
        <p:txBody>
          <a:bodyPr/>
          <a:lstStyle/>
          <a:p/>
        </p:txBody>
      </p:sp>
      <p:sp>
        <p:nvSpPr>
          <p:cNvPr id="17" name="R18"/>
          <p:cNvSpPr/>
          <p:nvPr/>
        </p:nvSpPr>
        <p:spPr>
          <a:xfrm>
            <a:off x="640080" y="1340000"/>
            <a:ext cx="68580" cy="320000"/>
          </a:xfrm>
          <a:prstGeom prst="rect">
            <a:avLst/>
          </a:prstGeom>
          <a:solidFill>
            <a:srgbClr val="2F62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20"/>
          <p:cNvSpPr txBox="1"/>
          <p:nvPr/>
        </p:nvSpPr>
        <p:spPr>
          <a:xfrm>
            <a:off x="760080" y="1300000"/>
            <a:ext cx="3151418" cy="38000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16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backend/ · 后端 FastAPI</a:t>
            </a:r>
            <a:endParaRPr sz="1600"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22"/>
          <p:cNvSpPr/>
          <p:nvPr/>
        </p:nvSpPr>
        <p:spPr>
          <a:xfrm>
            <a:off x="640080" y="1730000"/>
            <a:ext cx="566928" cy="45720"/>
          </a:xfrm>
          <a:prstGeom prst="rect">
            <a:avLst/>
          </a:prstGeom>
          <a:solidFill>
            <a:srgbClr val="2F62E8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24"/>
          <p:cNvSpPr txBox="1"/>
          <p:nvPr/>
        </p:nvSpPr>
        <p:spPr>
          <a:xfrm>
            <a:off x="640080" y="2029988"/>
            <a:ext cx="3271418" cy="200025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13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main.py</a:t>
            </a:r>
            <a:r>
              <a:rPr sz="1300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入口 · 路由 · 静态托管</a:t>
            </a:r>
            <a:endParaRPr sz="1300">
              <a:solidFill>
                <a:srgbClr val="445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26"/>
          <p:cNvSpPr txBox="1"/>
          <p:nvPr/>
        </p:nvSpPr>
        <p:spPr>
          <a:xfrm>
            <a:off x="640080" y="2319975"/>
            <a:ext cx="3271418" cy="40005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>
              <a:buClrTx/>
              <a:buSzTx/>
              <a:buFontTx/>
            </a:pPr>
            <a:r>
              <a:rPr sz="13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models.py </a:t>
            </a:r>
            <a:r>
              <a:rPr sz="1300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数据契约 Memory / Relation</a:t>
            </a:r>
            <a:endParaRPr sz="1300">
              <a:solidFill>
                <a:srgbClr val="445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28"/>
          <p:cNvSpPr txBox="1"/>
          <p:nvPr/>
        </p:nvSpPr>
        <p:spPr>
          <a:xfrm>
            <a:off x="640080" y="2809988"/>
            <a:ext cx="3271418" cy="200025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13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api/routes.py</a:t>
            </a:r>
            <a:r>
              <a:rPr sz="1300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REST 端点</a:t>
            </a:r>
            <a:endParaRPr sz="1300">
              <a:solidFill>
                <a:srgbClr val="445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30"/>
          <p:cNvSpPr txBox="1"/>
          <p:nvPr/>
        </p:nvSpPr>
        <p:spPr>
          <a:xfrm>
            <a:off x="640080" y="3199988"/>
            <a:ext cx="3271418" cy="200025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13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data/importer.py</a:t>
            </a:r>
            <a:r>
              <a:rPr sz="1300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原始对话导入</a:t>
            </a:r>
            <a:endParaRPr sz="1300">
              <a:solidFill>
                <a:srgbClr val="445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32"/>
          <p:cNvSpPr txBox="1"/>
          <p:nvPr/>
        </p:nvSpPr>
        <p:spPr>
          <a:xfrm>
            <a:off x="640080" y="3589988"/>
            <a:ext cx="3271418" cy="200025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13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memory/</a:t>
            </a:r>
            <a:r>
              <a:rPr sz="1300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builder · extractor</a:t>
            </a:r>
            <a:endParaRPr sz="1300">
              <a:solidFill>
                <a:srgbClr val="445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34"/>
          <p:cNvSpPr txBox="1"/>
          <p:nvPr/>
        </p:nvSpPr>
        <p:spPr>
          <a:xfrm>
            <a:off x="640080" y="3979988"/>
            <a:ext cx="3271418" cy="200025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13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retrieval/retriever.py</a:t>
            </a:r>
            <a:r>
              <a:rPr sz="1300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TF-IDF 检索</a:t>
            </a:r>
            <a:endParaRPr sz="1300">
              <a:solidFill>
                <a:srgbClr val="445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36"/>
          <p:cNvSpPr txBox="1"/>
          <p:nvPr/>
        </p:nvSpPr>
        <p:spPr>
          <a:xfrm>
            <a:off x="640080" y="4369988"/>
            <a:ext cx="3271418" cy="200025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13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reasoning/</a:t>
            </a:r>
            <a:r>
              <a:rPr sz="1300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状态解析 4 模块</a:t>
            </a:r>
            <a:endParaRPr sz="1300">
              <a:solidFill>
                <a:srgbClr val="445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38"/>
          <p:cNvSpPr txBox="1"/>
          <p:nvPr/>
        </p:nvSpPr>
        <p:spPr>
          <a:xfrm>
            <a:off x="640080" y="4759988"/>
            <a:ext cx="3271418" cy="200025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13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generation/ + llm/</a:t>
            </a:r>
            <a:r>
              <a:rPr sz="1300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答案生成</a:t>
            </a:r>
            <a:endParaRPr sz="1300">
              <a:solidFill>
                <a:srgbClr val="445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40"/>
          <p:cNvSpPr txBox="1"/>
          <p:nvPr/>
        </p:nvSpPr>
        <p:spPr>
          <a:xfrm>
            <a:off x="640080" y="5149988"/>
            <a:ext cx="3271418" cy="200025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13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export/exporter.py</a:t>
            </a:r>
            <a:r>
              <a:rPr sz="1300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统一 JSON 导出</a:t>
            </a:r>
            <a:endParaRPr sz="1300">
              <a:solidFill>
                <a:srgbClr val="445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42"/>
          <p:cNvSpPr txBox="1"/>
          <p:nvPr/>
        </p:nvSpPr>
        <p:spPr>
          <a:xfrm>
            <a:off x="640080" y="5539988"/>
            <a:ext cx="3271418" cy="200025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13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tests/</a:t>
            </a:r>
            <a:r>
              <a:rPr sz="1300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pytest 35 项</a:t>
            </a:r>
            <a:endParaRPr sz="1300">
              <a:solidFill>
                <a:srgbClr val="445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44"/>
          <p:cNvSpPr/>
          <p:nvPr/>
        </p:nvSpPr>
        <p:spPr>
          <a:xfrm>
            <a:off x="4277258" y="1150000"/>
            <a:ext cx="3637178" cy="478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6DFF0"/>
            </a:solidFill>
          </a:ln>
          <a:effectLst>
            <a:outerShdw blurRad="111760" dist="14224" dir="5400000" algn="ctr" rotWithShape="0">
              <a:srgbClr val="8FA3C4">
                <a:alpha val="11000"/>
              </a:srgbClr>
            </a:outerShdw>
          </a:effectLst>
        </p:spPr>
        <p:txBody>
          <a:bodyPr/>
          <a:lstStyle/>
          <a:p/>
        </p:txBody>
      </p:sp>
      <p:sp>
        <p:nvSpPr>
          <p:cNvPr id="45" name="R46"/>
          <p:cNvSpPr/>
          <p:nvPr/>
        </p:nvSpPr>
        <p:spPr>
          <a:xfrm>
            <a:off x="4460138" y="1340000"/>
            <a:ext cx="68580" cy="320000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T48"/>
          <p:cNvSpPr txBox="1"/>
          <p:nvPr/>
        </p:nvSpPr>
        <p:spPr>
          <a:xfrm>
            <a:off x="4580138" y="1300000"/>
            <a:ext cx="3151418" cy="38000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16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frontend/src/ · 前端 React+TS</a:t>
            </a:r>
            <a:endParaRPr sz="1600"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R50"/>
          <p:cNvSpPr/>
          <p:nvPr/>
        </p:nvSpPr>
        <p:spPr>
          <a:xfrm>
            <a:off x="4460138" y="1730000"/>
            <a:ext cx="566928" cy="45720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T52"/>
          <p:cNvSpPr txBox="1"/>
          <p:nvPr/>
        </p:nvSpPr>
        <p:spPr>
          <a:xfrm>
            <a:off x="4460138" y="2029988"/>
            <a:ext cx="3271418" cy="200025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13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App.tsx · main.tsx</a:t>
            </a:r>
            <a:r>
              <a:rPr sz="1300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入口与装配</a:t>
            </a:r>
            <a:endParaRPr sz="1300">
              <a:solidFill>
                <a:srgbClr val="445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54"/>
          <p:cNvSpPr txBox="1"/>
          <p:nvPr/>
        </p:nvSpPr>
        <p:spPr>
          <a:xfrm>
            <a:off x="4460138" y="2419988"/>
            <a:ext cx="3271418" cy="200025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13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api/</a:t>
            </a:r>
            <a:r>
              <a:rPr sz="1300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client · types</a:t>
            </a:r>
            <a:endParaRPr sz="1300">
              <a:solidFill>
                <a:srgbClr val="445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56"/>
          <p:cNvSpPr txBox="1"/>
          <p:nvPr/>
        </p:nvSpPr>
        <p:spPr>
          <a:xfrm>
            <a:off x="4460138" y="2809988"/>
            <a:ext cx="3271418" cy="200025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13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MemoryBrowser</a:t>
            </a:r>
            <a:r>
              <a:rPr sz="1300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记忆列表 · 筛选</a:t>
            </a:r>
            <a:endParaRPr sz="1300">
              <a:solidFill>
                <a:srgbClr val="445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58"/>
          <p:cNvSpPr txBox="1"/>
          <p:nvPr/>
        </p:nvSpPr>
        <p:spPr>
          <a:xfrm>
            <a:off x="4460138" y="3199988"/>
            <a:ext cx="3271418" cy="200025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13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MemoryDrawer</a:t>
            </a:r>
            <a:r>
              <a:rPr sz="1300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详情 · 证据溯源</a:t>
            </a:r>
            <a:endParaRPr sz="1300">
              <a:solidFill>
                <a:srgbClr val="445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T60"/>
          <p:cNvSpPr txBox="1"/>
          <p:nvPr/>
        </p:nvSpPr>
        <p:spPr>
          <a:xfrm>
            <a:off x="4460138" y="3589988"/>
            <a:ext cx="3271418" cy="200025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13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RelationTimeline</a:t>
            </a:r>
            <a:r>
              <a:rPr sz="1300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关系时间线</a:t>
            </a:r>
            <a:endParaRPr sz="1300">
              <a:solidFill>
                <a:srgbClr val="445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T62"/>
          <p:cNvSpPr txBox="1"/>
          <p:nvPr/>
        </p:nvSpPr>
        <p:spPr>
          <a:xfrm>
            <a:off x="4460138" y="3979988"/>
            <a:ext cx="3271418" cy="200025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13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CandidateTable</a:t>
            </a:r>
            <a:r>
              <a:rPr sz="1300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候选 · 有效性</a:t>
            </a:r>
            <a:endParaRPr sz="1300">
              <a:solidFill>
                <a:srgbClr val="445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T64"/>
          <p:cNvSpPr txBox="1"/>
          <p:nvPr/>
        </p:nvSpPr>
        <p:spPr>
          <a:xfrm>
            <a:off x="4460138" y="4369988"/>
            <a:ext cx="3271418" cy="200025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13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QueryWorkbench</a:t>
            </a:r>
            <a:r>
              <a:rPr sz="1300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问答工作台</a:t>
            </a:r>
            <a:endParaRPr sz="1300">
              <a:solidFill>
                <a:srgbClr val="445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T66"/>
          <p:cNvSpPr txBox="1"/>
          <p:nvPr/>
        </p:nvSpPr>
        <p:spPr>
          <a:xfrm>
            <a:off x="4460138" y="4659975"/>
            <a:ext cx="3271418" cy="40005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13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ConversationBar · AppHeader</a:t>
            </a:r>
            <a:r>
              <a:rPr sz="1300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会话 · 顶栏</a:t>
            </a:r>
            <a:endParaRPr sz="1300">
              <a:solidFill>
                <a:srgbClr val="445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T68"/>
          <p:cNvSpPr txBox="1"/>
          <p:nvPr/>
        </p:nvSpPr>
        <p:spPr>
          <a:xfrm>
            <a:off x="4460138" y="5149988"/>
            <a:ext cx="3271418" cy="200025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13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constants · hooks · utils</a:t>
            </a:r>
            <a:r>
              <a:rPr sz="1300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状态与工具</a:t>
            </a:r>
            <a:endParaRPr sz="1300">
              <a:solidFill>
                <a:srgbClr val="445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R70"/>
          <p:cNvSpPr/>
          <p:nvPr/>
        </p:nvSpPr>
        <p:spPr>
          <a:xfrm>
            <a:off x="8097316" y="1150000"/>
            <a:ext cx="3637178" cy="478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6DFF0"/>
            </a:solidFill>
          </a:ln>
          <a:effectLst>
            <a:outerShdw blurRad="111760" dist="14224" dir="5400000" algn="ctr" rotWithShape="0">
              <a:srgbClr val="8FA3C4">
                <a:alpha val="11000"/>
              </a:srgbClr>
            </a:outerShdw>
          </a:effectLst>
        </p:spPr>
        <p:txBody>
          <a:bodyPr/>
          <a:lstStyle/>
          <a:p/>
        </p:txBody>
      </p:sp>
      <p:sp>
        <p:nvSpPr>
          <p:cNvPr id="71" name="R72"/>
          <p:cNvSpPr/>
          <p:nvPr/>
        </p:nvSpPr>
        <p:spPr>
          <a:xfrm>
            <a:off x="8280196" y="1340000"/>
            <a:ext cx="68580" cy="320000"/>
          </a:xfrm>
          <a:prstGeom prst="rect">
            <a:avLst/>
          </a:prstGeom>
          <a:solidFill>
            <a:srgbClr val="6C3BD8"/>
          </a:solidFill>
          <a:ln>
            <a:noFill/>
          </a:ln>
        </p:spPr>
        <p:txBody>
          <a:bodyPr/>
          <a:lstStyle/>
          <a:p/>
        </p:txBody>
      </p:sp>
      <p:sp>
        <p:nvSpPr>
          <p:cNvPr id="73" name="T74"/>
          <p:cNvSpPr txBox="1"/>
          <p:nvPr/>
        </p:nvSpPr>
        <p:spPr>
          <a:xfrm>
            <a:off x="8400196" y="1300000"/>
            <a:ext cx="3151418" cy="38000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16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docs/process/ · 过程文档</a:t>
            </a:r>
            <a:endParaRPr sz="1600"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R76"/>
          <p:cNvSpPr/>
          <p:nvPr/>
        </p:nvSpPr>
        <p:spPr>
          <a:xfrm>
            <a:off x="8280196" y="1730000"/>
            <a:ext cx="566928" cy="45720"/>
          </a:xfrm>
          <a:prstGeom prst="rect">
            <a:avLst/>
          </a:prstGeom>
          <a:solidFill>
            <a:srgbClr val="6C3BD8"/>
          </a:solidFill>
          <a:ln>
            <a:noFill/>
          </a:ln>
        </p:spPr>
        <p:txBody>
          <a:bodyPr/>
          <a:lstStyle/>
          <a:p/>
        </p:txBody>
      </p:sp>
      <p:sp>
        <p:nvSpPr>
          <p:cNvPr id="77" name="T78"/>
          <p:cNvSpPr txBox="1"/>
          <p:nvPr/>
        </p:nvSpPr>
        <p:spPr>
          <a:xfrm>
            <a:off x="8280400" y="1805940"/>
            <a:ext cx="3272155" cy="570230"/>
          </a:xfrm>
          <a:prstGeom prst="rect">
            <a:avLst/>
          </a:prstGeom>
          <a:noFill/>
        </p:spPr>
        <p:txBody>
          <a:bodyPr wrap="square" lIns="137160" tIns="0" rIns="137160" bIns="0" anchor="ctr">
            <a:noAutofit/>
          </a:bodyPr>
          <a:lstStyle/>
          <a:p>
            <a:pPr algn="l">
              <a:buClrTx/>
              <a:buSzTx/>
              <a:buFontTx/>
            </a:pPr>
            <a:r>
              <a:rPr lang="en-US" sz="1300" b="1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r>
              <a:rPr sz="1300" b="1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eeting-minutes</a:t>
            </a:r>
            <a:r>
              <a:rPr sz="1300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3次例会</a:t>
            </a:r>
            <a:r>
              <a:rPr lang="zh-CN" sz="1300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纪要</a:t>
            </a:r>
            <a:endParaRPr lang="zh-CN" sz="1300">
              <a:solidFill>
                <a:srgbClr val="445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T80"/>
          <p:cNvSpPr txBox="1"/>
          <p:nvPr/>
        </p:nvSpPr>
        <p:spPr>
          <a:xfrm>
            <a:off x="8280196" y="2419988"/>
            <a:ext cx="3271418" cy="200025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13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plans/</a:t>
            </a:r>
            <a:r>
              <a:rPr sz="1300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周计划 · 风险跟踪</a:t>
            </a:r>
            <a:endParaRPr sz="1300">
              <a:solidFill>
                <a:srgbClr val="445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T82"/>
          <p:cNvSpPr txBox="1"/>
          <p:nvPr/>
        </p:nvSpPr>
        <p:spPr>
          <a:xfrm>
            <a:off x="8280196" y="2809988"/>
            <a:ext cx="3271418" cy="200025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13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design/</a:t>
            </a:r>
            <a:r>
              <a:rPr sz="1300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系统设计文档</a:t>
            </a:r>
            <a:endParaRPr sz="1300">
              <a:solidFill>
                <a:srgbClr val="445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T84"/>
          <p:cNvSpPr txBox="1"/>
          <p:nvPr/>
        </p:nvSpPr>
        <p:spPr>
          <a:xfrm>
            <a:off x="8280196" y="3199988"/>
            <a:ext cx="3271418" cy="200025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13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reviews/</a:t>
            </a:r>
            <a:r>
              <a:rPr sz="1300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SRS / 设计评审</a:t>
            </a:r>
            <a:endParaRPr sz="1300">
              <a:solidFill>
                <a:srgbClr val="445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T86"/>
          <p:cNvSpPr txBox="1"/>
          <p:nvPr/>
        </p:nvSpPr>
        <p:spPr>
          <a:xfrm>
            <a:off x="8280196" y="3589988"/>
            <a:ext cx="3271418" cy="200025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13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testing/</a:t>
            </a:r>
            <a:r>
              <a:rPr sz="1300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测试报告 + 17 截图</a:t>
            </a:r>
            <a:endParaRPr sz="1300">
              <a:solidFill>
                <a:srgbClr val="445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T88"/>
          <p:cNvSpPr txBox="1"/>
          <p:nvPr/>
        </p:nvSpPr>
        <p:spPr>
          <a:xfrm>
            <a:off x="8280196" y="3979988"/>
            <a:ext cx="3271418" cy="200025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13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worklog/</a:t>
            </a:r>
            <a:r>
              <a:rPr sz="1300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Git 提交记录</a:t>
            </a:r>
            <a:endParaRPr sz="1300">
              <a:solidFill>
                <a:srgbClr val="445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T90"/>
          <p:cNvSpPr txBox="1"/>
          <p:nvPr/>
        </p:nvSpPr>
        <p:spPr>
          <a:xfrm>
            <a:off x="8280196" y="4369988"/>
            <a:ext cx="3271418" cy="200025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>
              <a:buClrTx/>
              <a:buSzTx/>
              <a:buFontTx/>
            </a:pPr>
            <a:r>
              <a:rPr lang="en-US" sz="13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</a:t>
            </a:r>
            <a:r>
              <a:rPr sz="13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ersions/  changelog + tag</a:t>
            </a:r>
            <a:endParaRPr sz="1300"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T92"/>
          <p:cNvSpPr txBox="1"/>
          <p:nvPr/>
        </p:nvSpPr>
        <p:spPr>
          <a:xfrm>
            <a:off x="7680960" y="6455664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>
                <a:solidFill>
                  <a:srgbClr val="93A1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SRE小组 · 第六组 ｜ 05 / 10</a:t>
            </a:r>
            <a:endParaRPr sz="950">
              <a:solidFill>
                <a:srgbClr val="93A1B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60095" y="6207125"/>
            <a:ext cx="88245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代码仓库地址</a:t>
            </a:r>
            <a:r>
              <a:rPr lang="zh-CN" altLang="en-US"/>
              <a:t>：</a:t>
            </a:r>
            <a:r>
              <a:rPr lang="en-US" altLang="en-US"/>
              <a:t>https://github.com/w13126755377-ops/SRE-project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B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274320"/>
            <a:ext cx="68580" cy="402336"/>
          </a:xfrm>
          <a:prstGeom prst="rect">
            <a:avLst/>
          </a:prstGeom>
          <a:solidFill>
            <a:srgbClr val="467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64592"/>
            <a:ext cx="73152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已实现功能一：记忆浏览与证据溯源</a:t>
            </a:r>
            <a:endParaRPr sz="2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2F62E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36992" y="1335659"/>
            <a:ext cx="3419856" cy="497433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D6DFF0"/>
            </a:solidFill>
          </a:ln>
          <a:effectLst>
            <a:outerShdw blurRad="111760" dist="14224" dir="5400000" algn="ctr" rotWithShape="0">
              <a:srgbClr val="8FA3C4">
                <a:alpha val="11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5904" y="1538605"/>
            <a:ext cx="292608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界面要素</a:t>
            </a:r>
            <a:endParaRPr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75904" y="1832356"/>
            <a:ext cx="292608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E47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列表 / 详情 / 证据面板</a:t>
            </a:r>
            <a:endParaRPr sz="1400" b="0">
              <a:solidFill>
                <a:srgbClr val="1E47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75904" y="2143252"/>
            <a:ext cx="292608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列表：内容 / 实体 / 属性 / 状态</a:t>
            </a:r>
            <a:endParaRPr sz="14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75904" y="2451227"/>
            <a:ext cx="292608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详情抽屉：结构化字段 + 来源</a:t>
            </a:r>
            <a:endParaRPr sz="14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75904" y="2829306"/>
            <a:ext cx="2926080" cy="10972"/>
          </a:xfrm>
          <a:prstGeom prst="rect">
            <a:avLst/>
          </a:prstGeom>
          <a:solidFill>
            <a:srgbClr val="ECF0F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3035808"/>
            <a:ext cx="292608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交互能力</a:t>
            </a:r>
            <a:endParaRPr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75904" y="3346703"/>
            <a:ext cx="292608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E47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筛选 · 检索 · 展开来源</a:t>
            </a:r>
            <a:endParaRPr sz="1400" b="0">
              <a:solidFill>
                <a:srgbClr val="1E47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75904" y="3657600"/>
            <a:ext cx="292608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关键词搜索 · 实体 / 状态筛选</a:t>
            </a:r>
            <a:endParaRPr sz="14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75904" y="3931920"/>
            <a:ext cx="292608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分页浏览，点行打开详情</a:t>
            </a:r>
            <a:endParaRPr sz="14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375904" y="4261104"/>
            <a:ext cx="2926080" cy="10972"/>
          </a:xfrm>
          <a:prstGeom prst="rect">
            <a:avLst/>
          </a:prstGeom>
          <a:solidFill>
            <a:srgbClr val="ECF0F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75904" y="4608576"/>
            <a:ext cx="292608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证据溯源</a:t>
            </a:r>
            <a:endParaRPr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375904" y="4919472"/>
            <a:ext cx="292608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E47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答案 → Memory → 原始对话轮次</a:t>
            </a:r>
            <a:endParaRPr sz="1400" b="0">
              <a:solidFill>
                <a:srgbClr val="1E47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375904" y="5230368"/>
            <a:ext cx="292608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每条记忆带来源轮次 turn_id</a:t>
            </a:r>
            <a:endParaRPr sz="14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75904" y="5504688"/>
            <a:ext cx="292608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回溯 speaker / 时间 / 原文</a:t>
            </a:r>
            <a:endParaRPr sz="14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680960" y="6455664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93A1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SRE小组 · 第六组 ｜ 06 / 10</a:t>
            </a:r>
            <a:endParaRPr sz="850" b="0">
              <a:solidFill>
                <a:srgbClr val="93A1B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Picture 5"/>
          <p:cNvPicPr/>
          <p:nvPr/>
        </p:nvPicPr>
        <p:blipFill>
          <a:blip r:embed="rId1"/>
          <a:stretch>
            <a:fillRect/>
          </a:stretch>
        </p:blipFill>
        <p:spPr>
          <a:xfrm>
            <a:off x="214630" y="1051560"/>
            <a:ext cx="7086600" cy="2569464"/>
          </a:xfrm>
          <a:prstGeom prst="rect">
            <a:avLst/>
          </a:prstGeom>
        </p:spPr>
      </p:pic>
      <p:pic>
        <p:nvPicPr>
          <p:cNvPr id="27" name="Picture 26"/>
          <p:cNvPicPr/>
          <p:nvPr/>
        </p:nvPicPr>
        <p:blipFill>
          <a:blip r:embed="rId2"/>
          <a:stretch>
            <a:fillRect/>
          </a:stretch>
        </p:blipFill>
        <p:spPr>
          <a:xfrm>
            <a:off x="384175" y="3884930"/>
            <a:ext cx="7085965" cy="2570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B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274320"/>
            <a:ext cx="68580" cy="402336"/>
          </a:xfrm>
          <a:prstGeom prst="rect">
            <a:avLst/>
          </a:prstGeom>
          <a:solidFill>
            <a:srgbClr val="467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64592"/>
            <a:ext cx="73152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已实现功能二：动态记忆问答</a:t>
            </a:r>
            <a:endParaRPr sz="2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18120" y="201168"/>
            <a:ext cx="3977639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C5D3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核心页 ｜ 检索 + 关系判断 + 有效记忆 + 答案</a:t>
            </a:r>
            <a:endParaRPr sz="1000" b="0">
              <a:solidFill>
                <a:srgbClr val="C5D3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2F62E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280160"/>
            <a:ext cx="1783080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6DFF0"/>
            </a:solidFill>
          </a:ln>
          <a:effectLst>
            <a:outerShdw blurRad="111760" dist="14224" dir="5400000" algn="ctr" rotWithShape="0">
              <a:srgbClr val="8FA3C4">
                <a:alpha val="11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80160"/>
            <a:ext cx="17830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输入问题</a:t>
            </a:r>
            <a:endParaRPr sz="1300"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Isosceles Triangle 9"/>
          <p:cNvSpPr/>
          <p:nvPr/>
        </p:nvSpPr>
        <p:spPr>
          <a:xfrm rot="5400000">
            <a:off x="2459735" y="1426464"/>
            <a:ext cx="219456" cy="310896"/>
          </a:xfrm>
          <a:prstGeom prst="triangle">
            <a:avLst/>
          </a:prstGeom>
          <a:solidFill>
            <a:srgbClr val="A8BCE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15768" y="1280160"/>
            <a:ext cx="2148840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6DFF0"/>
            </a:solidFill>
          </a:ln>
          <a:effectLst>
            <a:outerShdw blurRad="111760" dist="14224" dir="5400000" algn="ctr" rotWithShape="0">
              <a:srgbClr val="8FA3C4">
                <a:alpha val="11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15768" y="1280160"/>
            <a:ext cx="21488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检索历史 Memory</a:t>
            </a:r>
            <a:endParaRPr sz="1150"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Isosceles Triangle 12"/>
          <p:cNvSpPr/>
          <p:nvPr/>
        </p:nvSpPr>
        <p:spPr>
          <a:xfrm rot="5400000">
            <a:off x="4882895" y="1426464"/>
            <a:ext cx="219456" cy="310896"/>
          </a:xfrm>
          <a:prstGeom prst="triangle">
            <a:avLst/>
          </a:prstGeom>
          <a:solidFill>
            <a:srgbClr val="A8BCE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38927" y="1280160"/>
            <a:ext cx="1874519" cy="603504"/>
          </a:xfrm>
          <a:prstGeom prst="roundRect">
            <a:avLst>
              <a:gd name="adj" fmla="val 10000"/>
            </a:avLst>
          </a:prstGeom>
          <a:solidFill>
            <a:srgbClr val="2F62E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38927" y="1280160"/>
            <a:ext cx="1874519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关系判断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Isosceles Triangle 15"/>
          <p:cNvSpPr/>
          <p:nvPr/>
        </p:nvSpPr>
        <p:spPr>
          <a:xfrm rot="5400000">
            <a:off x="7031735" y="1426464"/>
            <a:ext cx="219456" cy="310896"/>
          </a:xfrm>
          <a:prstGeom prst="triangle">
            <a:avLst/>
          </a:prstGeom>
          <a:solidFill>
            <a:srgbClr val="A8BCE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87767" y="1280160"/>
            <a:ext cx="2057400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6DFF0"/>
            </a:solidFill>
          </a:ln>
          <a:effectLst>
            <a:outerShdw blurRad="111760" dist="14224" dir="5400000" algn="ctr" rotWithShape="0">
              <a:srgbClr val="8FA3C4">
                <a:alpha val="11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87767" y="1280160"/>
            <a:ext cx="2057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有效记忆集合</a:t>
            </a:r>
            <a:endParaRPr sz="1300"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Isosceles Triangle 18"/>
          <p:cNvSpPr/>
          <p:nvPr/>
        </p:nvSpPr>
        <p:spPr>
          <a:xfrm rot="5400000">
            <a:off x="9363456" y="1426464"/>
            <a:ext cx="219456" cy="310896"/>
          </a:xfrm>
          <a:prstGeom prst="triangle">
            <a:avLst/>
          </a:prstGeom>
          <a:solidFill>
            <a:srgbClr val="A8BCE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19488" y="1280160"/>
            <a:ext cx="1691640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6DFF0"/>
            </a:solidFill>
          </a:ln>
          <a:effectLst>
            <a:outerShdw blurRad="111760" dist="14224" dir="5400000" algn="ctr" rotWithShape="0">
              <a:srgbClr val="8FA3C4">
                <a:alpha val="11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19488" y="1280160"/>
            <a:ext cx="16916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生成答案</a:t>
            </a:r>
            <a:endParaRPr sz="1300"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8368" y="1956816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93A1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用户提问</a:t>
            </a:r>
            <a:endParaRPr sz="1000" b="0">
              <a:solidFill>
                <a:srgbClr val="93A1B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715768" y="1956816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93A1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TF-IDF 召回 Top-K</a:t>
            </a:r>
            <a:endParaRPr sz="1000" b="0">
              <a:solidFill>
                <a:srgbClr val="93A1B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138927" y="1956816"/>
            <a:ext cx="187451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93A1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RETAIN / UPDATE /
SUPERSEDE / CONFLICT</a:t>
            </a:r>
            <a:endParaRPr sz="1000" b="0">
              <a:solidFill>
                <a:srgbClr val="93A1B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287767" y="1956816"/>
            <a:ext cx="2057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93A1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只保留当前有效</a:t>
            </a:r>
            <a:endParaRPr sz="1000" b="0">
              <a:solidFill>
                <a:srgbClr val="93A1B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619488" y="1956816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93A1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带证据的回答</a:t>
            </a:r>
            <a:endParaRPr sz="1000" b="0">
              <a:solidFill>
                <a:srgbClr val="93A1B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58368" y="2615184"/>
            <a:ext cx="5532120" cy="276148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D6DFF0"/>
            </a:solidFill>
          </a:ln>
          <a:effectLst>
            <a:outerShdw blurRad="111760" dist="14224" dir="5400000" algn="ctr" rotWithShape="0">
              <a:srgbClr val="8FA3C4">
                <a:alpha val="11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2816352"/>
            <a:ext cx="4937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F62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</a:t>
            </a:r>
            <a:r>
              <a:rPr sz="14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证据链（UI 截图占位）</a:t>
            </a:r>
            <a:endParaRPr sz="1400"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932688" y="3218688"/>
            <a:ext cx="4983480" cy="19385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B9C7E2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3218688"/>
            <a:ext cx="4983480" cy="1938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9DA9C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截图占位</a:t>
            </a:r>
            <a:endParaRPr sz="1200" b="1">
              <a:solidFill>
                <a:srgbClr val="9DA9C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446520" y="2615184"/>
            <a:ext cx="5093208" cy="276148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D6DFF0"/>
            </a:solidFill>
          </a:ln>
          <a:effectLst>
            <a:outerShdw blurRad="111760" dist="14224" dir="5400000" algn="ctr" rotWithShape="0">
              <a:srgbClr val="8FA3C4">
                <a:alpha val="11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84264" y="2816352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F62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</a:t>
            </a:r>
            <a:r>
              <a:rPr sz="14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输出解释：为什么选这条记忆</a:t>
            </a:r>
            <a:endParaRPr sz="1400"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684264" y="3273552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逐条候选：相关性得分 + 有效性状态</a:t>
            </a:r>
            <a:endParaRPr sz="12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684264" y="3657600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关系：RETAIN / UPDATE / SUPERSEDE / CONFLICT</a:t>
            </a:r>
            <a:endParaRPr sz="12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684264" y="4041648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有效性：有效 / 历史 / 冲突 / 不确定</a:t>
            </a:r>
            <a:endParaRPr sz="12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684264" y="4425696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冲突消解：轮次自纠 / 来源 / 证据量</a:t>
            </a:r>
            <a:endParaRPr sz="12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684264" y="4809744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回答只引用有效证据，可回查来源</a:t>
            </a:r>
            <a:endParaRPr sz="12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58368" y="5541264"/>
            <a:ext cx="10881360" cy="603504"/>
          </a:xfrm>
          <a:prstGeom prst="roundRect">
            <a:avLst>
              <a:gd name="adj" fmla="val 6000"/>
            </a:avLst>
          </a:prstGeom>
          <a:solidFill>
            <a:srgbClr val="142B5E"/>
          </a:solidFill>
          <a:ln>
            <a:noFill/>
          </a:ln>
          <a:effectLst>
            <a:outerShdw blurRad="111760" dist="14224" dir="5400000" algn="ctr" rotWithShape="0">
              <a:srgbClr val="8FA3C4">
                <a:alpha val="11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5541264"/>
            <a:ext cx="108813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核心机制：检索 + 关系判断 → 输出「当前有效状态」，而不是「最相似的历史片段」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680960" y="6455664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93A1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SRE小组 · 第六组 ｜ 07 / 10</a:t>
            </a:r>
            <a:endParaRPr sz="850" b="0">
              <a:solidFill>
                <a:srgbClr val="93A1B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425" y="2533015"/>
            <a:ext cx="6200140" cy="28079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6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B5E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8"/>
          <p:cNvSpPr/>
          <p:nvPr/>
        </p:nvSpPr>
        <p:spPr>
          <a:xfrm>
            <a:off x="384048" y="274320"/>
            <a:ext cx="68580" cy="402336"/>
          </a:xfrm>
          <a:prstGeom prst="rect">
            <a:avLst/>
          </a:prstGeom>
          <a:solidFill>
            <a:srgbClr val="467CF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10"/>
          <p:cNvSpPr txBox="1"/>
          <p:nvPr/>
        </p:nvSpPr>
        <p:spPr>
          <a:xfrm>
            <a:off x="621792" y="164592"/>
            <a:ext cx="7315200" cy="603504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测试结果</a:t>
            </a:r>
            <a:endParaRPr sz="2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12"/>
          <p:cNvSpPr txBox="1"/>
          <p:nvPr/>
        </p:nvSpPr>
        <p:spPr>
          <a:xfrm>
            <a:off x="7315200" y="201168"/>
            <a:ext cx="4477639" cy="530352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r"/>
            <a:r>
              <a:rPr sz="1100">
                <a:solidFill>
                  <a:srgbClr val="C7D3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M4 功能测试报告 · 2026-10-21</a:t>
            </a:r>
            <a:endParaRPr sz="1100">
              <a:solidFill>
                <a:srgbClr val="C7D3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14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2F62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16"/>
          <p:cNvSpPr/>
          <p:nvPr/>
        </p:nvSpPr>
        <p:spPr>
          <a:xfrm>
            <a:off x="457200" y="1150000"/>
            <a:ext cx="2682163" cy="11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D6DFF0"/>
            </a:solidFill>
          </a:ln>
          <a:effectLst>
            <a:outerShdw blurRad="111760" dist="14224" dir="5400000" algn="ctr" rotWithShape="0">
              <a:srgbClr val="8FA3C4">
                <a:alpha val="11000"/>
              </a:srgbClr>
            </a:outerShdw>
          </a:effectLst>
        </p:spPr>
        <p:txBody>
          <a:bodyPr/>
          <a:lstStyle/>
          <a:p/>
        </p:txBody>
      </p:sp>
      <p:sp>
        <p:nvSpPr>
          <p:cNvPr id="17" name="T18"/>
          <p:cNvSpPr txBox="1"/>
          <p:nvPr/>
        </p:nvSpPr>
        <p:spPr>
          <a:xfrm>
            <a:off x="457200" y="1293937"/>
            <a:ext cx="2682163" cy="492125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ctr"/>
            <a:r>
              <a:rPr sz="3200" b="1">
                <a:solidFill>
                  <a:srgbClr val="2F62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sz="3200" b="1">
                <a:solidFill>
                  <a:srgbClr val="2F62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sz="3200" b="1">
                <a:solidFill>
                  <a:srgbClr val="2F62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/17</a:t>
            </a:r>
            <a:endParaRPr sz="3200" b="1">
              <a:solidFill>
                <a:srgbClr val="2F62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20"/>
          <p:cNvSpPr txBox="1"/>
          <p:nvPr/>
        </p:nvSpPr>
        <p:spPr>
          <a:xfrm>
            <a:off x="457200" y="1850000"/>
            <a:ext cx="2682163" cy="32000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ctr"/>
            <a:r>
              <a:rPr sz="1150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场景通过</a:t>
            </a:r>
            <a:endParaRPr sz="1150">
              <a:solidFill>
                <a:srgbClr val="445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22"/>
          <p:cNvSpPr/>
          <p:nvPr/>
        </p:nvSpPr>
        <p:spPr>
          <a:xfrm>
            <a:off x="3322243" y="1150000"/>
            <a:ext cx="2682163" cy="11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D6DFF0"/>
            </a:solidFill>
          </a:ln>
          <a:effectLst>
            <a:outerShdw blurRad="111760" dist="14224" dir="5400000" algn="ctr" rotWithShape="0">
              <a:srgbClr val="8FA3C4">
                <a:alpha val="11000"/>
              </a:srgbClr>
            </a:outerShdw>
          </a:effectLst>
        </p:spPr>
        <p:txBody>
          <a:bodyPr/>
          <a:lstStyle/>
          <a:p/>
        </p:txBody>
      </p:sp>
      <p:sp>
        <p:nvSpPr>
          <p:cNvPr id="23" name="T24"/>
          <p:cNvSpPr txBox="1"/>
          <p:nvPr/>
        </p:nvSpPr>
        <p:spPr>
          <a:xfrm>
            <a:off x="3322243" y="1290000"/>
            <a:ext cx="2682163" cy="50000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ctr"/>
            <a:r>
              <a:rPr sz="3200" b="1">
                <a:solidFill>
                  <a:srgbClr val="2F62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35</a:t>
            </a:r>
            <a:endParaRPr sz="3200" b="1">
              <a:solidFill>
                <a:srgbClr val="2F62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26"/>
          <p:cNvSpPr txBox="1"/>
          <p:nvPr/>
        </p:nvSpPr>
        <p:spPr>
          <a:xfrm>
            <a:off x="3322243" y="1850000"/>
            <a:ext cx="2682163" cy="32000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ctr"/>
            <a:r>
              <a:rPr sz="1150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pytest 全部通过</a:t>
            </a:r>
            <a:endParaRPr sz="1150">
              <a:solidFill>
                <a:srgbClr val="445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28"/>
          <p:cNvSpPr/>
          <p:nvPr/>
        </p:nvSpPr>
        <p:spPr>
          <a:xfrm>
            <a:off x="6187286" y="1150000"/>
            <a:ext cx="2682163" cy="11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D6DFF0"/>
            </a:solidFill>
          </a:ln>
          <a:effectLst>
            <a:outerShdw blurRad="111760" dist="14224" dir="5400000" algn="ctr" rotWithShape="0">
              <a:srgbClr val="8FA3C4">
                <a:alpha val="11000"/>
              </a:srgbClr>
            </a:outerShdw>
          </a:effectLst>
        </p:spPr>
        <p:txBody>
          <a:bodyPr/>
          <a:lstStyle/>
          <a:p/>
        </p:txBody>
      </p:sp>
      <p:sp>
        <p:nvSpPr>
          <p:cNvPr id="29" name="T30"/>
          <p:cNvSpPr txBox="1"/>
          <p:nvPr/>
        </p:nvSpPr>
        <p:spPr>
          <a:xfrm>
            <a:off x="6187286" y="1290000"/>
            <a:ext cx="2682163" cy="50000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ctr"/>
            <a:r>
              <a:rPr sz="3200" b="1">
                <a:solidFill>
                  <a:srgbClr val="2F62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369/369</a:t>
            </a:r>
            <a:endParaRPr sz="3200" b="1">
              <a:solidFill>
                <a:srgbClr val="2F62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32"/>
          <p:cNvSpPr txBox="1"/>
          <p:nvPr/>
        </p:nvSpPr>
        <p:spPr>
          <a:xfrm>
            <a:off x="6187286" y="1850000"/>
            <a:ext cx="2682163" cy="32000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ctr"/>
            <a:r>
              <a:rPr sz="1150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证据可追溯 · 0 失败</a:t>
            </a:r>
            <a:endParaRPr sz="1150">
              <a:solidFill>
                <a:srgbClr val="445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34"/>
          <p:cNvSpPr/>
          <p:nvPr/>
        </p:nvSpPr>
        <p:spPr>
          <a:xfrm>
            <a:off x="9052329" y="1150000"/>
            <a:ext cx="2682163" cy="11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D6DFF0"/>
            </a:solidFill>
          </a:ln>
          <a:effectLst>
            <a:outerShdw blurRad="111760" dist="14224" dir="5400000" algn="ctr" rotWithShape="0">
              <a:srgbClr val="8FA3C4">
                <a:alpha val="11000"/>
              </a:srgbClr>
            </a:outerShdw>
          </a:effectLst>
        </p:spPr>
        <p:txBody>
          <a:bodyPr/>
          <a:lstStyle/>
          <a:p/>
        </p:txBody>
      </p:sp>
      <p:sp>
        <p:nvSpPr>
          <p:cNvPr id="35" name="T36"/>
          <p:cNvSpPr txBox="1"/>
          <p:nvPr/>
        </p:nvSpPr>
        <p:spPr>
          <a:xfrm>
            <a:off x="9052329" y="1290000"/>
            <a:ext cx="2682163" cy="50000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ctr"/>
            <a:r>
              <a:rPr sz="3200" b="1">
                <a:solidFill>
                  <a:srgbClr val="2F62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187</a:t>
            </a:r>
            <a:endParaRPr sz="3200" b="1">
              <a:solidFill>
                <a:srgbClr val="2F62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38"/>
          <p:cNvSpPr txBox="1"/>
          <p:nvPr/>
        </p:nvSpPr>
        <p:spPr>
          <a:xfrm>
            <a:off x="9052329" y="1850000"/>
            <a:ext cx="2682163" cy="32000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ctr"/>
            <a:r>
              <a:rPr sz="1150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JSON 导出 · 全带来源</a:t>
            </a:r>
            <a:endParaRPr sz="1150">
              <a:solidFill>
                <a:srgbClr val="445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40"/>
          <p:cNvSpPr/>
          <p:nvPr/>
        </p:nvSpPr>
        <p:spPr>
          <a:xfrm>
            <a:off x="457200" y="2480000"/>
            <a:ext cx="11277295" cy="162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D6DFF0"/>
            </a:solidFill>
          </a:ln>
          <a:effectLst>
            <a:outerShdw blurRad="111760" dist="14224" dir="5400000" algn="ctr" rotWithShape="0">
              <a:srgbClr val="8FA3C4">
                <a:alpha val="11000"/>
              </a:srgbClr>
            </a:outerShdw>
          </a:effectLst>
        </p:spPr>
        <p:txBody>
          <a:bodyPr/>
          <a:lstStyle/>
          <a:p/>
        </p:txBody>
      </p:sp>
      <p:sp>
        <p:nvSpPr>
          <p:cNvPr id="41" name="T42"/>
          <p:cNvSpPr txBox="1"/>
          <p:nvPr/>
        </p:nvSpPr>
        <p:spPr>
          <a:xfrm>
            <a:off x="640080" y="2600000"/>
            <a:ext cx="6400000" cy="32000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135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已验证的完整链路</a:t>
            </a:r>
            <a:endParaRPr sz="1350"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44"/>
          <p:cNvSpPr txBox="1"/>
          <p:nvPr/>
        </p:nvSpPr>
        <p:spPr>
          <a:xfrm>
            <a:off x="6457200" y="2600000"/>
            <a:ext cx="5000000" cy="32000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r"/>
            <a:r>
              <a:rPr sz="1150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 场景 · 15 通过 · 2 未覆盖</a:t>
            </a:r>
            <a:endParaRPr sz="1150">
              <a:solidFill>
                <a:srgbClr val="445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R46"/>
          <p:cNvSpPr/>
          <p:nvPr/>
        </p:nvSpPr>
        <p:spPr>
          <a:xfrm>
            <a:off x="640080" y="3000000"/>
            <a:ext cx="1258941" cy="560000"/>
          </a:xfrm>
          <a:prstGeom prst="roundRect">
            <a:avLst>
              <a:gd name="adj" fmla="val 4500"/>
            </a:avLst>
          </a:prstGeom>
          <a:solidFill>
            <a:srgbClr val="E8EFFC"/>
          </a:solidFill>
          <a:ln w="11430">
            <a:solidFill>
              <a:srgbClr val="2F62E8"/>
            </a:solidFill>
          </a:ln>
        </p:spPr>
        <p:txBody>
          <a:bodyPr/>
          <a:lstStyle/>
          <a:p/>
        </p:txBody>
      </p:sp>
      <p:sp>
        <p:nvSpPr>
          <p:cNvPr id="47" name="T48"/>
          <p:cNvSpPr txBox="1"/>
          <p:nvPr/>
        </p:nvSpPr>
        <p:spPr>
          <a:xfrm>
            <a:off x="640080" y="3172368"/>
            <a:ext cx="1258941" cy="215265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ctr"/>
            <a:r>
              <a:rPr sz="14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导入</a:t>
            </a:r>
            <a:endParaRPr sz="1400"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A50"/>
          <p:cNvSpPr/>
          <p:nvPr/>
        </p:nvSpPr>
        <p:spPr>
          <a:xfrm>
            <a:off x="1914021" y="3170000"/>
            <a:ext cx="90000" cy="220000"/>
          </a:xfrm>
          <a:prstGeom prst="rightArrow">
            <a:avLst/>
          </a:prstGeom>
          <a:solidFill>
            <a:srgbClr val="2F62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R52"/>
          <p:cNvSpPr/>
          <p:nvPr/>
        </p:nvSpPr>
        <p:spPr>
          <a:xfrm>
            <a:off x="2019021" y="3000000"/>
            <a:ext cx="1258941" cy="560000"/>
          </a:xfrm>
          <a:prstGeom prst="roundRect">
            <a:avLst>
              <a:gd name="adj" fmla="val 4500"/>
            </a:avLst>
          </a:prstGeom>
          <a:solidFill>
            <a:srgbClr val="E8EFFC"/>
          </a:solidFill>
          <a:ln w="11430">
            <a:solidFill>
              <a:srgbClr val="2F62E8"/>
            </a:solidFill>
          </a:ln>
        </p:spPr>
        <p:txBody>
          <a:bodyPr/>
          <a:lstStyle/>
          <a:p/>
        </p:txBody>
      </p:sp>
      <p:sp>
        <p:nvSpPr>
          <p:cNvPr id="53" name="T54"/>
          <p:cNvSpPr txBox="1"/>
          <p:nvPr/>
        </p:nvSpPr>
        <p:spPr>
          <a:xfrm>
            <a:off x="2019021" y="3172368"/>
            <a:ext cx="1258941" cy="215265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ctr"/>
            <a:r>
              <a:rPr sz="14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构建</a:t>
            </a:r>
            <a:endParaRPr sz="1400"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A56"/>
          <p:cNvSpPr/>
          <p:nvPr/>
        </p:nvSpPr>
        <p:spPr>
          <a:xfrm>
            <a:off x="3292962" y="3170000"/>
            <a:ext cx="90000" cy="220000"/>
          </a:xfrm>
          <a:prstGeom prst="rightArrow">
            <a:avLst/>
          </a:prstGeom>
          <a:solidFill>
            <a:srgbClr val="2F62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R58"/>
          <p:cNvSpPr/>
          <p:nvPr/>
        </p:nvSpPr>
        <p:spPr>
          <a:xfrm>
            <a:off x="3397962" y="3000000"/>
            <a:ext cx="1258941" cy="560000"/>
          </a:xfrm>
          <a:prstGeom prst="roundRect">
            <a:avLst>
              <a:gd name="adj" fmla="val 4500"/>
            </a:avLst>
          </a:prstGeom>
          <a:solidFill>
            <a:srgbClr val="E8EFFC"/>
          </a:solidFill>
          <a:ln w="11430">
            <a:solidFill>
              <a:srgbClr val="2F62E8"/>
            </a:solidFill>
          </a:ln>
        </p:spPr>
        <p:txBody>
          <a:bodyPr/>
          <a:lstStyle/>
          <a:p/>
        </p:txBody>
      </p:sp>
      <p:sp>
        <p:nvSpPr>
          <p:cNvPr id="59" name="T60"/>
          <p:cNvSpPr txBox="1"/>
          <p:nvPr/>
        </p:nvSpPr>
        <p:spPr>
          <a:xfrm>
            <a:off x="3397962" y="3172368"/>
            <a:ext cx="1258941" cy="215265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ctr"/>
            <a:r>
              <a:rPr sz="14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溯源</a:t>
            </a:r>
            <a:endParaRPr sz="1400"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A62"/>
          <p:cNvSpPr/>
          <p:nvPr/>
        </p:nvSpPr>
        <p:spPr>
          <a:xfrm>
            <a:off x="4671903" y="3170000"/>
            <a:ext cx="90000" cy="220000"/>
          </a:xfrm>
          <a:prstGeom prst="rightArrow">
            <a:avLst/>
          </a:prstGeom>
          <a:solidFill>
            <a:srgbClr val="2F62E8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R64"/>
          <p:cNvSpPr/>
          <p:nvPr/>
        </p:nvSpPr>
        <p:spPr>
          <a:xfrm>
            <a:off x="4776903" y="3000000"/>
            <a:ext cx="1258941" cy="560000"/>
          </a:xfrm>
          <a:prstGeom prst="roundRect">
            <a:avLst>
              <a:gd name="adj" fmla="val 4500"/>
            </a:avLst>
          </a:prstGeom>
          <a:solidFill>
            <a:srgbClr val="E8EFFC"/>
          </a:solidFill>
          <a:ln w="11430">
            <a:solidFill>
              <a:srgbClr val="2F62E8"/>
            </a:solidFill>
          </a:ln>
        </p:spPr>
        <p:txBody>
          <a:bodyPr/>
          <a:lstStyle/>
          <a:p/>
        </p:txBody>
      </p:sp>
      <p:sp>
        <p:nvSpPr>
          <p:cNvPr id="65" name="T66"/>
          <p:cNvSpPr txBox="1"/>
          <p:nvPr/>
        </p:nvSpPr>
        <p:spPr>
          <a:xfrm>
            <a:off x="4776903" y="3172368"/>
            <a:ext cx="1258941" cy="215265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ctr"/>
            <a:r>
              <a:rPr sz="14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检索</a:t>
            </a:r>
            <a:endParaRPr sz="1400"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A68"/>
          <p:cNvSpPr/>
          <p:nvPr/>
        </p:nvSpPr>
        <p:spPr>
          <a:xfrm>
            <a:off x="6050844" y="3170000"/>
            <a:ext cx="90000" cy="220000"/>
          </a:xfrm>
          <a:prstGeom prst="rightArrow">
            <a:avLst/>
          </a:prstGeom>
          <a:solidFill>
            <a:srgbClr val="2F62E8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R70"/>
          <p:cNvSpPr/>
          <p:nvPr/>
        </p:nvSpPr>
        <p:spPr>
          <a:xfrm>
            <a:off x="6155844" y="3000000"/>
            <a:ext cx="1258941" cy="560000"/>
          </a:xfrm>
          <a:prstGeom prst="roundRect">
            <a:avLst>
              <a:gd name="adj" fmla="val 4500"/>
            </a:avLst>
          </a:prstGeom>
          <a:solidFill>
            <a:srgbClr val="E8EFFC"/>
          </a:solidFill>
          <a:ln w="11430">
            <a:solidFill>
              <a:srgbClr val="2F62E8"/>
            </a:solidFill>
          </a:ln>
        </p:spPr>
        <p:txBody>
          <a:bodyPr/>
          <a:lstStyle/>
          <a:p/>
        </p:txBody>
      </p:sp>
      <p:sp>
        <p:nvSpPr>
          <p:cNvPr id="71" name="T72"/>
          <p:cNvSpPr txBox="1"/>
          <p:nvPr/>
        </p:nvSpPr>
        <p:spPr>
          <a:xfrm>
            <a:off x="6141720" y="3000375"/>
            <a:ext cx="1273175" cy="556260"/>
          </a:xfrm>
          <a:prstGeom prst="rect">
            <a:avLst/>
          </a:prstGeom>
          <a:noFill/>
        </p:spPr>
        <p:txBody>
          <a:bodyPr wrap="square" lIns="137160" tIns="0" rIns="137160" bIns="0" anchor="ctr">
            <a:noAutofit/>
          </a:bodyPr>
          <a:lstStyle/>
          <a:p>
            <a:pPr algn="ctr"/>
            <a:r>
              <a:rPr sz="14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判定</a:t>
            </a:r>
            <a:endParaRPr sz="1400"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A74"/>
          <p:cNvSpPr/>
          <p:nvPr/>
        </p:nvSpPr>
        <p:spPr>
          <a:xfrm>
            <a:off x="7429785" y="3170000"/>
            <a:ext cx="90000" cy="220000"/>
          </a:xfrm>
          <a:prstGeom prst="rightArrow">
            <a:avLst/>
          </a:prstGeom>
          <a:solidFill>
            <a:srgbClr val="2F62E8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R76"/>
          <p:cNvSpPr/>
          <p:nvPr/>
        </p:nvSpPr>
        <p:spPr>
          <a:xfrm>
            <a:off x="7534785" y="3000000"/>
            <a:ext cx="1258941" cy="560000"/>
          </a:xfrm>
          <a:prstGeom prst="roundRect">
            <a:avLst>
              <a:gd name="adj" fmla="val 4500"/>
            </a:avLst>
          </a:prstGeom>
          <a:solidFill>
            <a:srgbClr val="E8EFFC"/>
          </a:solidFill>
          <a:ln w="11430">
            <a:solidFill>
              <a:srgbClr val="2F62E8"/>
            </a:solidFill>
          </a:ln>
        </p:spPr>
        <p:txBody>
          <a:bodyPr/>
          <a:lstStyle/>
          <a:p/>
        </p:txBody>
      </p:sp>
      <p:sp>
        <p:nvSpPr>
          <p:cNvPr id="77" name="T78"/>
          <p:cNvSpPr txBox="1"/>
          <p:nvPr/>
        </p:nvSpPr>
        <p:spPr>
          <a:xfrm>
            <a:off x="7549390" y="3188560"/>
            <a:ext cx="1258941" cy="18415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ctr"/>
            <a:r>
              <a:rPr sz="12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⑥ 有效性解析</a:t>
            </a:r>
            <a:endParaRPr sz="1200"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A80"/>
          <p:cNvSpPr/>
          <p:nvPr/>
        </p:nvSpPr>
        <p:spPr>
          <a:xfrm>
            <a:off x="8808726" y="3170000"/>
            <a:ext cx="90000" cy="220000"/>
          </a:xfrm>
          <a:prstGeom prst="rightArrow">
            <a:avLst/>
          </a:prstGeom>
          <a:solidFill>
            <a:srgbClr val="2F62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1" name="R82"/>
          <p:cNvSpPr/>
          <p:nvPr/>
        </p:nvSpPr>
        <p:spPr>
          <a:xfrm>
            <a:off x="8913726" y="3000000"/>
            <a:ext cx="1258941" cy="560000"/>
          </a:xfrm>
          <a:prstGeom prst="roundRect">
            <a:avLst>
              <a:gd name="adj" fmla="val 4500"/>
            </a:avLst>
          </a:prstGeom>
          <a:solidFill>
            <a:srgbClr val="E8EFFC"/>
          </a:solidFill>
          <a:ln w="11430">
            <a:solidFill>
              <a:srgbClr val="2F62E8"/>
            </a:solidFill>
          </a:ln>
        </p:spPr>
        <p:txBody>
          <a:bodyPr/>
          <a:lstStyle/>
          <a:p/>
        </p:txBody>
      </p:sp>
      <p:sp>
        <p:nvSpPr>
          <p:cNvPr id="83" name="T84"/>
          <p:cNvSpPr txBox="1"/>
          <p:nvPr/>
        </p:nvSpPr>
        <p:spPr>
          <a:xfrm>
            <a:off x="8913726" y="3187925"/>
            <a:ext cx="1258941" cy="18415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ctr"/>
            <a:r>
              <a:rPr sz="12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⑦ 回答/引用</a:t>
            </a:r>
            <a:endParaRPr sz="1200"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A86"/>
          <p:cNvSpPr/>
          <p:nvPr/>
        </p:nvSpPr>
        <p:spPr>
          <a:xfrm>
            <a:off x="10187667" y="3170000"/>
            <a:ext cx="90000" cy="220000"/>
          </a:xfrm>
          <a:prstGeom prst="rightArrow">
            <a:avLst/>
          </a:prstGeom>
          <a:solidFill>
            <a:srgbClr val="2F62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7" name="R88"/>
          <p:cNvSpPr/>
          <p:nvPr/>
        </p:nvSpPr>
        <p:spPr>
          <a:xfrm>
            <a:off x="10292667" y="3000000"/>
            <a:ext cx="1258941" cy="560000"/>
          </a:xfrm>
          <a:prstGeom prst="roundRect">
            <a:avLst>
              <a:gd name="adj" fmla="val 4500"/>
            </a:avLst>
          </a:prstGeom>
          <a:solidFill>
            <a:srgbClr val="E8EFFC"/>
          </a:solidFill>
          <a:ln w="11430">
            <a:solidFill>
              <a:srgbClr val="2F62E8"/>
            </a:solidFill>
          </a:ln>
        </p:spPr>
        <p:txBody>
          <a:bodyPr/>
          <a:lstStyle/>
          <a:p/>
        </p:txBody>
      </p:sp>
      <p:sp>
        <p:nvSpPr>
          <p:cNvPr id="89" name="T90"/>
          <p:cNvSpPr txBox="1"/>
          <p:nvPr/>
        </p:nvSpPr>
        <p:spPr>
          <a:xfrm>
            <a:off x="10292667" y="3172368"/>
            <a:ext cx="1258941" cy="215265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ctr"/>
            <a:r>
              <a:rPr sz="14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⑧ 导出</a:t>
            </a:r>
            <a:endParaRPr sz="1400"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R92"/>
          <p:cNvSpPr/>
          <p:nvPr/>
        </p:nvSpPr>
        <p:spPr>
          <a:xfrm>
            <a:off x="457200" y="4280000"/>
            <a:ext cx="6200000" cy="166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D6DFF0"/>
            </a:solidFill>
          </a:ln>
          <a:effectLst>
            <a:outerShdw blurRad="111760" dist="14224" dir="5400000" algn="ctr" rotWithShape="0">
              <a:srgbClr val="8FA3C4">
                <a:alpha val="11000"/>
              </a:srgbClr>
            </a:outerShdw>
          </a:effectLst>
        </p:spPr>
        <p:txBody>
          <a:bodyPr/>
          <a:lstStyle/>
          <a:p/>
        </p:txBody>
      </p:sp>
      <p:sp>
        <p:nvSpPr>
          <p:cNvPr id="93" name="T94"/>
          <p:cNvSpPr txBox="1"/>
          <p:nvPr/>
        </p:nvSpPr>
        <p:spPr>
          <a:xfrm>
            <a:off x="640080" y="4406330"/>
            <a:ext cx="5834240" cy="30734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20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限制</a:t>
            </a:r>
            <a:endParaRPr sz="2000"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T96"/>
          <p:cNvSpPr txBox="1"/>
          <p:nvPr/>
        </p:nvSpPr>
        <p:spPr>
          <a:xfrm>
            <a:off x="640080" y="4807128"/>
            <a:ext cx="5834240" cy="245745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16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批量评测（/api/eval </a:t>
            </a:r>
            <a:r>
              <a:rPr lang="zh-CN" sz="16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暂用</a:t>
            </a:r>
            <a:r>
              <a:rPr sz="16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501</a:t>
            </a:r>
            <a:r>
              <a:rPr lang="zh-CN" sz="16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占位</a:t>
            </a:r>
            <a:r>
              <a:rPr sz="12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sz="120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T100"/>
          <p:cNvSpPr txBox="1"/>
          <p:nvPr/>
        </p:nvSpPr>
        <p:spPr>
          <a:xfrm>
            <a:off x="640080" y="5228683"/>
            <a:ext cx="5834240" cy="245745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16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模型注入未执行</a:t>
            </a:r>
            <a:endParaRPr sz="160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R102"/>
          <p:cNvSpPr/>
          <p:nvPr/>
        </p:nvSpPr>
        <p:spPr>
          <a:xfrm>
            <a:off x="6840080" y="4280000"/>
            <a:ext cx="4894415" cy="166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D6DFF0"/>
            </a:solidFill>
          </a:ln>
          <a:effectLst>
            <a:outerShdw blurRad="111760" dist="14224" dir="5400000" algn="ctr" rotWithShape="0">
              <a:srgbClr val="8FA3C4">
                <a:alpha val="11000"/>
              </a:srgbClr>
            </a:outerShdw>
          </a:effectLst>
        </p:spPr>
        <p:txBody>
          <a:bodyPr/>
          <a:lstStyle/>
          <a:p/>
        </p:txBody>
      </p:sp>
      <p:sp>
        <p:nvSpPr>
          <p:cNvPr id="103" name="T104"/>
          <p:cNvSpPr txBox="1"/>
          <p:nvPr/>
        </p:nvSpPr>
        <p:spPr>
          <a:xfrm>
            <a:off x="7022960" y="4406330"/>
            <a:ext cx="4528655" cy="30734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20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数据与配置</a:t>
            </a:r>
            <a:endParaRPr sz="2000"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T106"/>
          <p:cNvSpPr txBox="1"/>
          <p:nvPr/>
        </p:nvSpPr>
        <p:spPr>
          <a:xfrm>
            <a:off x="7022960" y="4822368"/>
            <a:ext cx="4528655" cy="215265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14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demo-2conv：conv-26 / conv-30</a:t>
            </a:r>
            <a:endParaRPr sz="140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T108"/>
          <p:cNvSpPr txBox="1"/>
          <p:nvPr/>
        </p:nvSpPr>
        <p:spPr>
          <a:xfrm>
            <a:off x="7022960" y="5162368"/>
            <a:ext cx="4528655" cy="215265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14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38 会话 / 788 轮 / 304 QA</a:t>
            </a:r>
            <a:endParaRPr sz="140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T110"/>
          <p:cNvSpPr txBox="1"/>
          <p:nvPr/>
        </p:nvSpPr>
        <p:spPr>
          <a:xfrm>
            <a:off x="7022960" y="5487128"/>
            <a:ext cx="4528655" cy="245745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16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mock + rules · TF-IDF 检索</a:t>
            </a:r>
            <a:endParaRPr sz="160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1" name="T112"/>
          <p:cNvSpPr txBox="1"/>
          <p:nvPr/>
        </p:nvSpPr>
        <p:spPr>
          <a:xfrm>
            <a:off x="457200" y="6060000"/>
            <a:ext cx="11277295" cy="256032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1000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口径：M4 功能测试报告（2026-10-21）· 前端 tsc 与构建通过 · 导出 187 条全带来源 · schema_version 0.1</a:t>
            </a:r>
            <a:endParaRPr sz="1000">
              <a:solidFill>
                <a:srgbClr val="445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" name="T114"/>
          <p:cNvSpPr txBox="1"/>
          <p:nvPr/>
        </p:nvSpPr>
        <p:spPr>
          <a:xfrm>
            <a:off x="7680960" y="6455664"/>
            <a:ext cx="3840480" cy="130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>
                <a:solidFill>
                  <a:srgbClr val="93A1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SRE小组 · 第六组 ｜</a:t>
            </a:r>
            <a:r>
              <a:rPr lang="en-US" sz="850">
                <a:solidFill>
                  <a:srgbClr val="93A1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sz="850">
                <a:solidFill>
                  <a:srgbClr val="93A1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/ 10</a:t>
            </a:r>
            <a:endParaRPr sz="850">
              <a:solidFill>
                <a:srgbClr val="93A1B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6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B5E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8"/>
          <p:cNvSpPr/>
          <p:nvPr/>
        </p:nvSpPr>
        <p:spPr>
          <a:xfrm>
            <a:off x="384048" y="274320"/>
            <a:ext cx="68580" cy="402336"/>
          </a:xfrm>
          <a:prstGeom prst="rect">
            <a:avLst/>
          </a:prstGeom>
          <a:solidFill>
            <a:srgbClr val="467CF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10"/>
          <p:cNvSpPr txBox="1"/>
          <p:nvPr/>
        </p:nvSpPr>
        <p:spPr>
          <a:xfrm>
            <a:off x="621792" y="164592"/>
            <a:ext cx="7315200" cy="603504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待改进</a:t>
            </a:r>
            <a:endParaRPr sz="2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12"/>
          <p:cNvSpPr txBox="1"/>
          <p:nvPr/>
        </p:nvSpPr>
        <p:spPr>
          <a:xfrm>
            <a:off x="7315200" y="201168"/>
            <a:ext cx="4477639" cy="530352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r"/>
            <a:r>
              <a:rPr sz="1100">
                <a:solidFill>
                  <a:srgbClr val="C7D3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TF-IDF 检索的局限与改进</a:t>
            </a:r>
            <a:endParaRPr sz="1100">
              <a:solidFill>
                <a:srgbClr val="C7D3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14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2F62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16"/>
          <p:cNvSpPr/>
          <p:nvPr/>
        </p:nvSpPr>
        <p:spPr>
          <a:xfrm>
            <a:off x="457200" y="1150000"/>
            <a:ext cx="11277295" cy="148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D6DFF0"/>
            </a:solidFill>
          </a:ln>
          <a:effectLst>
            <a:outerShdw blurRad="111760" dist="14224" dir="5400000" algn="ctr" rotWithShape="0">
              <a:srgbClr val="8FA3C4">
                <a:alpha val="11000"/>
              </a:srgbClr>
            </a:outerShdw>
          </a:effectLst>
        </p:spPr>
        <p:txBody>
          <a:bodyPr/>
          <a:lstStyle/>
          <a:p/>
        </p:txBody>
      </p:sp>
      <p:sp>
        <p:nvSpPr>
          <p:cNvPr id="17" name="R18"/>
          <p:cNvSpPr/>
          <p:nvPr/>
        </p:nvSpPr>
        <p:spPr>
          <a:xfrm>
            <a:off x="640080" y="1650000"/>
            <a:ext cx="480000" cy="480000"/>
          </a:xfrm>
          <a:prstGeom prst="roundRect">
            <a:avLst>
              <a:gd name="adj" fmla="val 4500"/>
            </a:avLst>
          </a:prstGeom>
          <a:solidFill>
            <a:srgbClr val="2F62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20"/>
          <p:cNvSpPr txBox="1"/>
          <p:nvPr/>
        </p:nvSpPr>
        <p:spPr>
          <a:xfrm>
            <a:off x="640080" y="1650000"/>
            <a:ext cx="480000" cy="48000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22"/>
          <p:cNvSpPr txBox="1"/>
          <p:nvPr/>
        </p:nvSpPr>
        <p:spPr>
          <a:xfrm>
            <a:off x="1302960" y="1315533"/>
            <a:ext cx="10248655" cy="368935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24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语义近义词关系</a:t>
            </a:r>
            <a:endParaRPr sz="2400"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24"/>
          <p:cNvSpPr txBox="1"/>
          <p:nvPr/>
        </p:nvSpPr>
        <p:spPr>
          <a:xfrm>
            <a:off x="1302960" y="1782368"/>
            <a:ext cx="10248655" cy="215265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14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只按字面匹配，无法识别同义 / 近义表达 —— 如 'job' 与 'occupation' 被当成无关词。</a:t>
            </a:r>
            <a:endParaRPr sz="140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26"/>
          <p:cNvSpPr txBox="1"/>
          <p:nvPr/>
        </p:nvSpPr>
        <p:spPr>
          <a:xfrm>
            <a:off x="1302960" y="2222368"/>
            <a:ext cx="10248655" cy="215265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1400">
                <a:solidFill>
                  <a:srgbClr val="1E8E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改进：换向量召回，或加同义词表做查询扩展</a:t>
            </a:r>
            <a:r>
              <a:rPr sz="1150">
                <a:solidFill>
                  <a:srgbClr val="1E8E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150">
              <a:solidFill>
                <a:srgbClr val="1E8E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28"/>
          <p:cNvSpPr/>
          <p:nvPr/>
        </p:nvSpPr>
        <p:spPr>
          <a:xfrm>
            <a:off x="457200" y="2810000"/>
            <a:ext cx="11277295" cy="148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D6DFF0"/>
            </a:solidFill>
          </a:ln>
          <a:effectLst>
            <a:outerShdw blurRad="111760" dist="14224" dir="5400000" algn="ctr" rotWithShape="0">
              <a:srgbClr val="8FA3C4">
                <a:alpha val="11000"/>
              </a:srgbClr>
            </a:outerShdw>
          </a:effectLst>
        </p:spPr>
        <p:txBody>
          <a:bodyPr/>
          <a:lstStyle/>
          <a:p/>
        </p:txBody>
      </p:sp>
      <p:sp>
        <p:nvSpPr>
          <p:cNvPr id="29" name="R30"/>
          <p:cNvSpPr/>
          <p:nvPr/>
        </p:nvSpPr>
        <p:spPr>
          <a:xfrm>
            <a:off x="640080" y="3310000"/>
            <a:ext cx="480000" cy="480000"/>
          </a:xfrm>
          <a:prstGeom prst="roundRect">
            <a:avLst>
              <a:gd name="adj" fmla="val 4500"/>
            </a:avLst>
          </a:prstGeom>
          <a:solidFill>
            <a:srgbClr val="2F62E8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T32"/>
          <p:cNvSpPr txBox="1"/>
          <p:nvPr/>
        </p:nvSpPr>
        <p:spPr>
          <a:xfrm>
            <a:off x="640080" y="3310000"/>
            <a:ext cx="480000" cy="48000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34"/>
          <p:cNvSpPr txBox="1"/>
          <p:nvPr/>
        </p:nvSpPr>
        <p:spPr>
          <a:xfrm>
            <a:off x="1302960" y="2975533"/>
            <a:ext cx="10248655" cy="368935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24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忽略词序、语法、否定</a:t>
            </a:r>
            <a:endParaRPr sz="2400"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36"/>
          <p:cNvSpPr txBox="1"/>
          <p:nvPr/>
        </p:nvSpPr>
        <p:spPr>
          <a:xfrm>
            <a:off x="1302960" y="3442368"/>
            <a:ext cx="10248655" cy="215265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14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词袋模型丢弃语序与语法结构，否定词无法区分 —— 如 'not happy' 与 'happy' 被看作相似</a:t>
            </a:r>
            <a:r>
              <a:rPr sz="11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15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38"/>
          <p:cNvSpPr txBox="1"/>
          <p:nvPr/>
        </p:nvSpPr>
        <p:spPr>
          <a:xfrm>
            <a:off x="1302960" y="3882368"/>
            <a:ext cx="10248655" cy="215265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1400">
                <a:solidFill>
                  <a:srgbClr val="1E8E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改进：引入 n-gram / 句法特征，或用 LLM 对候选重排并显式识别否定词。</a:t>
            </a:r>
            <a:endParaRPr sz="1400">
              <a:solidFill>
                <a:srgbClr val="1E8E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40"/>
          <p:cNvSpPr/>
          <p:nvPr/>
        </p:nvSpPr>
        <p:spPr>
          <a:xfrm>
            <a:off x="457200" y="4470000"/>
            <a:ext cx="11277295" cy="148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D6DFF0"/>
            </a:solidFill>
          </a:ln>
          <a:effectLst>
            <a:outerShdw blurRad="111760" dist="14224" dir="5400000" algn="ctr" rotWithShape="0">
              <a:srgbClr val="8FA3C4">
                <a:alpha val="11000"/>
              </a:srgbClr>
            </a:outerShdw>
          </a:effectLst>
        </p:spPr>
        <p:txBody>
          <a:bodyPr/>
          <a:lstStyle/>
          <a:p/>
        </p:txBody>
      </p:sp>
      <p:sp>
        <p:nvSpPr>
          <p:cNvPr id="41" name="R42"/>
          <p:cNvSpPr/>
          <p:nvPr/>
        </p:nvSpPr>
        <p:spPr>
          <a:xfrm>
            <a:off x="640080" y="4970000"/>
            <a:ext cx="480000" cy="480000"/>
          </a:xfrm>
          <a:prstGeom prst="roundRect">
            <a:avLst>
              <a:gd name="adj" fmla="val 4500"/>
            </a:avLst>
          </a:prstGeom>
          <a:solidFill>
            <a:srgbClr val="2F62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T44"/>
          <p:cNvSpPr txBox="1"/>
          <p:nvPr/>
        </p:nvSpPr>
        <p:spPr>
          <a:xfrm>
            <a:off x="640080" y="4970000"/>
            <a:ext cx="480000" cy="48000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46"/>
          <p:cNvSpPr txBox="1"/>
          <p:nvPr/>
        </p:nvSpPr>
        <p:spPr>
          <a:xfrm>
            <a:off x="1302960" y="4635533"/>
            <a:ext cx="10248655" cy="368935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24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词形变化、拼写、缩写不鲁棒</a:t>
            </a:r>
            <a:endParaRPr sz="2400"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48"/>
          <p:cNvSpPr txBox="1"/>
          <p:nvPr/>
        </p:nvSpPr>
        <p:spPr>
          <a:xfrm>
            <a:off x="1302960" y="5102368"/>
            <a:ext cx="10248655" cy="215265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14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对时态变形、拼写错误、缩写敏感 —— 如 run / runs / running 视为三个词，'US' 与 'United States' 失配。</a:t>
            </a:r>
            <a:endParaRPr sz="140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50"/>
          <p:cNvSpPr txBox="1"/>
          <p:nvPr/>
        </p:nvSpPr>
        <p:spPr>
          <a:xfrm>
            <a:off x="1302960" y="5542368"/>
            <a:ext cx="10248655" cy="215265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1400">
                <a:solidFill>
                  <a:srgbClr val="1E8E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改进：检索前做词干</a:t>
            </a:r>
            <a:r>
              <a:rPr lang="en-US" sz="1400">
                <a:solidFill>
                  <a:srgbClr val="1E8E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stemming</a:t>
            </a:r>
            <a:r>
              <a:rPr lang="zh-CN" altLang="en-US" sz="1400">
                <a:solidFill>
                  <a:srgbClr val="1E8E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400">
                <a:solidFill>
                  <a:srgbClr val="1E8E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词形还原、拼写纠错与缩写扩展</a:t>
            </a:r>
            <a:r>
              <a:rPr sz="1150">
                <a:solidFill>
                  <a:srgbClr val="1E8E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150">
              <a:solidFill>
                <a:srgbClr val="1E8E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52"/>
          <p:cNvSpPr txBox="1"/>
          <p:nvPr/>
        </p:nvSpPr>
        <p:spPr>
          <a:xfrm>
            <a:off x="457200" y="6111181"/>
            <a:ext cx="11277295" cy="15367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endParaRPr sz="1000">
              <a:solidFill>
                <a:srgbClr val="445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54"/>
          <p:cNvSpPr txBox="1"/>
          <p:nvPr/>
        </p:nvSpPr>
        <p:spPr>
          <a:xfrm>
            <a:off x="7680960" y="6455664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>
                <a:solidFill>
                  <a:srgbClr val="93A1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SRE小组 · 第六组 ｜ 09 / 10</a:t>
            </a:r>
            <a:endParaRPr sz="850">
              <a:solidFill>
                <a:srgbClr val="93A1B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6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B5E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8"/>
          <p:cNvSpPr/>
          <p:nvPr/>
        </p:nvSpPr>
        <p:spPr>
          <a:xfrm>
            <a:off x="384048" y="274320"/>
            <a:ext cx="68580" cy="402336"/>
          </a:xfrm>
          <a:prstGeom prst="rect">
            <a:avLst/>
          </a:prstGeom>
          <a:solidFill>
            <a:srgbClr val="467CF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10"/>
          <p:cNvSpPr txBox="1"/>
          <p:nvPr/>
        </p:nvSpPr>
        <p:spPr>
          <a:xfrm>
            <a:off x="621792" y="164592"/>
            <a:ext cx="7315200" cy="603504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sz="2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12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2F62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14"/>
          <p:cNvSpPr/>
          <p:nvPr/>
        </p:nvSpPr>
        <p:spPr>
          <a:xfrm>
            <a:off x="457200" y="1150000"/>
            <a:ext cx="6200000" cy="44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D6DFF0"/>
            </a:solidFill>
          </a:ln>
          <a:effectLst>
            <a:outerShdw blurRad="111760" dist="14224" dir="5400000" algn="ctr" rotWithShape="0">
              <a:srgbClr val="8FA3C4">
                <a:alpha val="11000"/>
              </a:srgbClr>
            </a:outerShdw>
          </a:effectLst>
        </p:spPr>
        <p:txBody>
          <a:bodyPr/>
          <a:lstStyle/>
          <a:p/>
        </p:txBody>
      </p:sp>
      <p:sp>
        <p:nvSpPr>
          <p:cNvPr id="15" name="T16"/>
          <p:cNvSpPr txBox="1"/>
          <p:nvPr/>
        </p:nvSpPr>
        <p:spPr>
          <a:xfrm>
            <a:off x="640080" y="1300000"/>
            <a:ext cx="5834240" cy="36000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16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做成了什么</a:t>
            </a:r>
            <a:endParaRPr sz="1600"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18"/>
          <p:cNvSpPr/>
          <p:nvPr/>
        </p:nvSpPr>
        <p:spPr>
          <a:xfrm>
            <a:off x="640080" y="1690000"/>
            <a:ext cx="566928" cy="45720"/>
          </a:xfrm>
          <a:prstGeom prst="rect">
            <a:avLst/>
          </a:prstGeom>
          <a:solidFill>
            <a:srgbClr val="2F62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20"/>
          <p:cNvSpPr txBox="1"/>
          <p:nvPr/>
        </p:nvSpPr>
        <p:spPr>
          <a:xfrm>
            <a:off x="640080" y="1926330"/>
            <a:ext cx="5834240" cy="30734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完成必做闭环</a:t>
            </a:r>
            <a:endParaRPr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22"/>
          <p:cNvSpPr txBox="1"/>
          <p:nvPr/>
        </p:nvSpPr>
        <p:spPr>
          <a:xfrm>
            <a:off x="640080" y="2293140"/>
            <a:ext cx="5834240" cy="55372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项必做全部实现：导入 → 构建 → 浏览溯源 → 检索 → 状态解析 → 问答导出。</a:t>
            </a:r>
            <a:endParaRPr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24"/>
          <p:cNvSpPr txBox="1"/>
          <p:nvPr/>
        </p:nvSpPr>
        <p:spPr>
          <a:xfrm>
            <a:off x="621665" y="3136330"/>
            <a:ext cx="5834240" cy="30734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攻克</a:t>
            </a:r>
            <a:r>
              <a:rPr 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bonus</a:t>
            </a:r>
            <a:r>
              <a:rPr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核心难点</a:t>
            </a:r>
            <a:endParaRPr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26"/>
          <p:cNvSpPr txBox="1"/>
          <p:nvPr/>
        </p:nvSpPr>
        <p:spPr>
          <a:xfrm>
            <a:off x="640080" y="3503140"/>
            <a:ext cx="5834240" cy="55372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动态状态解析</a:t>
            </a:r>
            <a:r>
              <a:rPr lang="zh-CN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，包括</a:t>
            </a:r>
            <a:r>
              <a:rPr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复杂冲突消解与多版本保留</a:t>
            </a:r>
            <a:r>
              <a:rPr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，只保留当前有效记忆，避免被过时历史误导。</a:t>
            </a:r>
            <a:endParaRPr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28"/>
          <p:cNvSpPr txBox="1"/>
          <p:nvPr/>
        </p:nvSpPr>
        <p:spPr>
          <a:xfrm>
            <a:off x="640080" y="4346330"/>
            <a:ext cx="5834240" cy="30734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验证系统有效</a:t>
            </a:r>
            <a:endParaRPr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30"/>
          <p:cNvSpPr txBox="1"/>
          <p:nvPr/>
        </p:nvSpPr>
        <p:spPr>
          <a:xfrm>
            <a:off x="640080" y="4713140"/>
            <a:ext cx="5834240" cy="55372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15/17 场景通过 · 35 项 pytest · 369/369 证据可回溯 · 187 条导出全带来源。</a:t>
            </a:r>
            <a:endParaRPr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32"/>
          <p:cNvSpPr/>
          <p:nvPr/>
        </p:nvSpPr>
        <p:spPr>
          <a:xfrm>
            <a:off x="6840080" y="1150000"/>
            <a:ext cx="4894415" cy="44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D6DFF0"/>
            </a:solidFill>
          </a:ln>
          <a:effectLst>
            <a:outerShdw blurRad="111760" dist="14224" dir="5400000" algn="ctr" rotWithShape="0">
              <a:srgbClr val="8FA3C4">
                <a:alpha val="11000"/>
              </a:srgbClr>
            </a:outerShdw>
          </a:effectLst>
        </p:spPr>
        <p:txBody>
          <a:bodyPr/>
          <a:lstStyle/>
          <a:p/>
        </p:txBody>
      </p:sp>
      <p:sp>
        <p:nvSpPr>
          <p:cNvPr id="33" name="T34"/>
          <p:cNvSpPr txBox="1"/>
          <p:nvPr/>
        </p:nvSpPr>
        <p:spPr>
          <a:xfrm>
            <a:off x="7022960" y="1300000"/>
            <a:ext cx="4528655" cy="36000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16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下一步</a:t>
            </a:r>
            <a:endParaRPr sz="1600"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36"/>
          <p:cNvSpPr/>
          <p:nvPr/>
        </p:nvSpPr>
        <p:spPr>
          <a:xfrm>
            <a:off x="7022960" y="1690000"/>
            <a:ext cx="566928" cy="45720"/>
          </a:xfrm>
          <a:prstGeom prst="rect">
            <a:avLst/>
          </a:prstGeom>
          <a:solidFill>
            <a:srgbClr val="2F62E8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T38"/>
          <p:cNvSpPr txBox="1"/>
          <p:nvPr/>
        </p:nvSpPr>
        <p:spPr>
          <a:xfrm>
            <a:off x="7022960" y="1846955"/>
            <a:ext cx="4528655" cy="30734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批量评测</a:t>
            </a:r>
            <a:endParaRPr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40"/>
          <p:cNvSpPr txBox="1"/>
          <p:nvPr/>
        </p:nvSpPr>
        <p:spPr>
          <a:xfrm>
            <a:off x="7022960" y="2154710"/>
            <a:ext cx="4528655" cy="83058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落地 FR-13：计算 F1 / Recall@K / 状态准确率，对比 Full Text / Vector RAG 基线。</a:t>
            </a:r>
            <a:endParaRPr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42"/>
          <p:cNvSpPr txBox="1"/>
          <p:nvPr/>
        </p:nvSpPr>
        <p:spPr>
          <a:xfrm>
            <a:off x="7022960" y="3136330"/>
            <a:ext cx="4528655" cy="30734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换向量召回</a:t>
            </a:r>
            <a:endParaRPr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44"/>
          <p:cNvSpPr txBox="1"/>
          <p:nvPr/>
        </p:nvSpPr>
        <p:spPr>
          <a:xfrm>
            <a:off x="7022960" y="3503140"/>
            <a:ext cx="4528655" cy="55372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替代 TF-IDF，改善语义近义、词序语法否定、词形拼写缩写等局限</a:t>
            </a:r>
            <a:r>
              <a:rPr sz="112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12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46"/>
          <p:cNvSpPr txBox="1"/>
          <p:nvPr/>
        </p:nvSpPr>
        <p:spPr>
          <a:xfrm>
            <a:off x="7022960" y="4132970"/>
            <a:ext cx="4528655" cy="30734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图记忆与冲突消解</a:t>
            </a:r>
            <a:endParaRPr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48"/>
          <p:cNvSpPr txBox="1"/>
          <p:nvPr/>
        </p:nvSpPr>
        <p:spPr>
          <a:xfrm>
            <a:off x="7022960" y="4602015"/>
            <a:ext cx="4528655" cy="55372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l"/>
            <a:r>
              <a:rPr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Graph Memory 多跳关系建模；完善 CONFLICT 自动消解。</a:t>
            </a:r>
            <a:endParaRPr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R50"/>
          <p:cNvSpPr/>
          <p:nvPr/>
        </p:nvSpPr>
        <p:spPr>
          <a:xfrm>
            <a:off x="457200" y="5700000"/>
            <a:ext cx="11277295" cy="5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D6DFF0"/>
            </a:solidFill>
          </a:ln>
          <a:effectLst>
            <a:outerShdw blurRad="111760" dist="14224" dir="5400000" algn="ctr" rotWithShape="0">
              <a:srgbClr val="8FA3C4">
                <a:alpha val="11000"/>
              </a:srgbClr>
            </a:outerShdw>
          </a:effectLst>
        </p:spPr>
        <p:txBody>
          <a:bodyPr/>
          <a:lstStyle/>
          <a:p/>
        </p:txBody>
      </p:sp>
      <p:sp>
        <p:nvSpPr>
          <p:cNvPr id="51" name="T52"/>
          <p:cNvSpPr txBox="1"/>
          <p:nvPr/>
        </p:nvSpPr>
        <p:spPr>
          <a:xfrm>
            <a:off x="457200" y="5801570"/>
            <a:ext cx="11277295" cy="27686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ctr"/>
            <a:r>
              <a:rPr lang="en-US" sz="18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SRE</a:t>
            </a:r>
            <a:r>
              <a:rPr lang="zh-CN" altLang="en-US" sz="18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</a:t>
            </a:r>
            <a:r>
              <a:rPr lang="en-US" altLang="zh-CN" sz="18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</a:t>
            </a:r>
            <a:r>
              <a:rPr sz="18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</a:t>
            </a:r>
            <a:r>
              <a:rPr lang="zh-CN" sz="1800" b="1">
                <a:solidFill>
                  <a:srgbClr val="142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聆听</a:t>
            </a:r>
            <a:endParaRPr lang="zh-CN" sz="1800" b="1">
              <a:solidFill>
                <a:srgbClr val="142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54"/>
          <p:cNvSpPr txBox="1"/>
          <p:nvPr/>
        </p:nvSpPr>
        <p:spPr>
          <a:xfrm>
            <a:off x="457200" y="6081110"/>
            <a:ext cx="11277295" cy="160000"/>
          </a:xfrm>
          <a:prstGeom prst="rect">
            <a:avLst/>
          </a:prstGeom>
          <a:noFill/>
        </p:spPr>
        <p:txBody>
          <a:bodyPr wrap="square" lIns="137160" tIns="0" rIns="137160" bIns="0" anchor="ctr">
            <a:spAutoFit/>
          </a:bodyPr>
          <a:lstStyle/>
          <a:p>
            <a:pPr algn="ctr"/>
            <a:r>
              <a:rPr sz="1000">
                <a:solidFill>
                  <a:srgbClr val="445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感谢观看 · 欢迎提问</a:t>
            </a:r>
            <a:endParaRPr sz="1000">
              <a:solidFill>
                <a:srgbClr val="445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56"/>
          <p:cNvSpPr txBox="1"/>
          <p:nvPr/>
        </p:nvSpPr>
        <p:spPr>
          <a:xfrm>
            <a:off x="7680960" y="6455664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>
                <a:solidFill>
                  <a:srgbClr val="93A1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SRE小组 · 第六组 ｜ 10 / 10</a:t>
            </a:r>
            <a:endParaRPr sz="850">
              <a:solidFill>
                <a:srgbClr val="93A1B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26.35,&quot;left&quot;:119.81000000000003,&quot;top&quot;:319.68,&quot;width&quot;:941.05}"/>
</p:tagLst>
</file>

<file path=ppt/tags/tag2.xml><?xml version="1.0" encoding="utf-8"?>
<p:tagLst xmlns:p="http://schemas.openxmlformats.org/presentationml/2006/main">
  <p:tag name="KSO_WM_DIAGRAM_VIRTUALLY_FRAME" val="{&quot;height&quot;:126.35,&quot;left&quot;:119.81000000000003,&quot;top&quot;:319.68,&quot;width&quot;:941.05}"/>
</p:tagLst>
</file>

<file path=ppt/tags/tag3.xml><?xml version="1.0" encoding="utf-8"?>
<p:tagLst xmlns:p="http://schemas.openxmlformats.org/presentationml/2006/main">
  <p:tag name="KSO_WM_DIAGRAM_VIRTUALLY_FRAME" val="{&quot;height&quot;:126.35,&quot;left&quot;:119.81000000000003,&quot;top&quot;:319.68,&quot;width&quot;:941.05}"/>
</p:tagLst>
</file>

<file path=ppt/tags/tag4.xml><?xml version="1.0" encoding="utf-8"?>
<p:tagLst xmlns:p="http://schemas.openxmlformats.org/presentationml/2006/main">
  <p:tag name="wpp_generatetext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3870</Words>
  <Application>WPS Presentation</Application>
  <PresentationFormat>On-screen Show (4:3)</PresentationFormat>
  <Paragraphs>428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王嘉淦</cp:lastModifiedBy>
  <cp:revision>45</cp:revision>
  <dcterms:created xsi:type="dcterms:W3CDTF">2013-01-27T09:14:00Z</dcterms:created>
  <dcterms:modified xsi:type="dcterms:W3CDTF">2026-10-22T13:51:40Z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1033-12.1.0.28043</vt:lpwstr>
  </property>
  <property fmtid="{D5CDD505-2E9C-101B-9397-08002B2CF9AE}" pid="3" name="ICV">
    <vt:lpwstr>703840F4908A4E64939C243B76308B3A_13</vt:lpwstr>
  </property>
</Properties>
</file>