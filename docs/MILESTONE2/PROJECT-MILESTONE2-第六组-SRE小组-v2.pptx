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核心三步：结构化记忆构建 → 动态状态解析 → 有效记忆回答。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核心矛盾：静态检索召回历史，但不区分当前有效状态与已过时状态。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技术参考：DimMem — 结构化 Memory + 三路检索（BM25 + Dense Embedding + 维度/时间/地点/类型）；MRAgent — Cue–Tag–Content Graph + Agentic 主动重构。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MILESTONE 2  ·  PROJECT PROPOSAL PRESENTATION  ·  VISION &amp; SCOPE &amp; FEATURE ROADMAP</a:t>
            </a:r>
            <a:endParaRPr sz="1300" b="1">
              <a:solidFill>
                <a:srgbClr val="BFDB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智能体动态记忆管理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FDB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Dynamic Memory Management</a:t>
            </a:r>
            <a:endParaRPr sz="1600" b="0">
              <a:solidFill>
                <a:srgbClr val="BFDB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BE6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LoCoMo 的结构化记忆构建与动态状态解析 Web 应用</a:t>
            </a:r>
            <a:endParaRPr sz="1500" b="0">
              <a:solidFill>
                <a:srgbClr val="DBE6F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97280" y="3154680"/>
            <a:ext cx="996696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429000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  ·   Team ID：第六组</a:t>
            </a:r>
            <a:endParaRPr sz="19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4096512"/>
            <a:ext cx="9052560" cy="353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成员：</a:t>
            </a:r>
            <a:r>
              <a:rPr sz="20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王嘉淦　李胡诚　叶泽晨　马旻瑄　陈镇灏</a:t>
            </a:r>
            <a:endParaRPr sz="20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4480" y="4700270"/>
            <a:ext cx="905256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课程：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Software Requirements Engineering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32705" y="5367528"/>
            <a:ext cx="905256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Vision（愿景）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2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0515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467676"/>
            <a:ext cx="9601200" cy="11703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AI 智能体在长程、多会话对话中，</a:t>
            </a:r>
            <a:endParaRPr sz="32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「记住的是最新事实，而不是被过时记忆误导」。</a:t>
            </a:r>
            <a:endParaRPr sz="3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1051560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147060"/>
            <a:ext cx="9601200" cy="701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一句话愿景：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把「静态向量检索」升级为可追溯、可解析状态演化的动态记忆系统——不仅召回相关历史，还能判断哪些记忆已过时、被替代或相互冲突，从而给出正确回答。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1"/>
            </p:custDataLst>
          </p:nvPr>
        </p:nvSpPr>
        <p:spPr>
          <a:xfrm>
            <a:off x="822960" y="4251960"/>
            <a:ext cx="33375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1097280" y="4429760"/>
            <a:ext cx="2788920" cy="1134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结构化记忆构建</a:t>
            </a:r>
            <a:endParaRPr sz="1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LoCoMo 对话提取人物 / 事件 / 时间 / 状态，生成结构化 Memory，支持统一 JSON 导出。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3"/>
            </p:custDataLst>
          </p:nvPr>
        </p:nvSpPr>
        <p:spPr>
          <a:xfrm>
            <a:off x="4416552" y="4251960"/>
            <a:ext cx="33375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4690872" y="4357370"/>
            <a:ext cx="2788920" cy="1134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动态状态解析</a:t>
            </a:r>
            <a:endParaRPr sz="1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判断记忆间 RETAIN / UPDATE / SUPERSEDE / CONFLICT 关系，定位当前有效记忆。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5"/>
            </p:custDataLst>
          </p:nvPr>
        </p:nvSpPr>
        <p:spPr>
          <a:xfrm>
            <a:off x="8010144" y="4251960"/>
            <a:ext cx="333756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8284464" y="4357370"/>
            <a:ext cx="2788920" cy="1134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有效记忆回答</a:t>
            </a:r>
            <a:endParaRPr sz="16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基于当前有效 Memory 生成答案，并在 Web 端展示记忆、证据与解析过程。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要解决什么问题</a:t>
            </a:r>
            <a:r>
              <a:rPr lang="en-US"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Problem &amp; Motivation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3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822960" y="1325880"/>
            <a:ext cx="5440680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133856" y="1545336"/>
            <a:ext cx="4800600" cy="2091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问题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长程、多轮对话中，用户状态、计划和偏好持续变化。普通向量检索只能「找到相关」，</a:t>
            </a: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无法判断「是否仍有效」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——会同时召回当前状态与被后续信息更新掉的旧状态，导致错误回答或决策。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6583680" y="1325880"/>
            <a:ext cx="5440680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6894576" y="1545336"/>
            <a:ext cx="4800600" cy="1426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例子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Gina 1月失业于 DoorDash</a:t>
            </a:r>
            <a:r>
              <a:rPr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3月开了网店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。静态检索可能把过时职业状态当当前事实；本系统应识别 </a:t>
            </a:r>
            <a:r>
              <a:rPr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SUPERSEDE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关系，以最新状态作答。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822960" y="3886200"/>
            <a:ext cx="5440680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1133856" y="4105656"/>
            <a:ext cx="4800600" cy="161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目标用户与场景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长程对话 Agent 的开发者与研究者；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跨会话「我是谁 / 我计划什么 / 我当前什么状态」类问题（长期用户画像、连续项目跟进、角色扮演长线剧情）。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6583680" y="3886200"/>
            <a:ext cx="5440680" cy="23957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6894576" y="4105656"/>
            <a:ext cx="4800600" cy="161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数据与测试基础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LoCoMo长期多会话对话基准，含 QA、证据轮次、事件摘要标注。课程统一筛选「状态变化」类问题并标注相关 Memory、关系与最终有效 Memory，供系统自动检索、判断与解析。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项目范围是什么（Scope）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4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676656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517904"/>
            <a:ext cx="6080760" cy="4202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In-Scope（必做）</a:t>
            </a:r>
            <a:endParaRPr sz="28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数据与记忆构建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6 段 LoCoMo（4 段开发 + 2 段测试），从原始对话提取人物/事件/时间/状态，构建结构化 Memory（内容、时间、来源会话/轮次），支持统一 JSON 导出，并实现 Web 端可视化。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动态维护与查询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针对输入 QA 检索相关历史 Memory，判断 RETAIN（保留）/ UPDATE（更新）/ SUPERSEDE（替代）/CONFLICT（冲突），确定当前有效 Memory 并完成回答；Web 中展示相关证据与状态解析过程。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交付：</a:t>
            </a: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 Web 应用 + 完整源代码 + 结构化 Memory JSON + 测试结果 + 项目报告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18120" y="1280160"/>
            <a:ext cx="3520440" cy="2606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575" y="1517650"/>
            <a:ext cx="3150235" cy="1818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Bonus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复杂冲突消解与多版本保留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Graph Memory / 多跳关系建模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Memory 合并与压缩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自适应检索 / 复杂时间推理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18120" y="4023360"/>
            <a:ext cx="352044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4261104"/>
            <a:ext cx="2834640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Out-of-Scope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不训练大模型、不构建通用对话系统、不接入真实生产环境</a:t>
            </a:r>
            <a:r>
              <a: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准备实现哪些功能（功能清单）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5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261872"/>
          <a:ext cx="10515600" cy="4343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1760"/>
                <a:gridCol w="6035040"/>
                <a:gridCol w="1828800"/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优先级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结构化记忆构建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提取人物/事件/时间/状态 → 结构化 Memory（ID · Content · Entity/Event · Timestamp · Source · State）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 JSON 导出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 Memory 导出为统一 JSON 格式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 记忆可视化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查看结构化记忆 + 原始证据（会话/轮次）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记忆检索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给定问题，从长期历史检索相关 Memory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状态关系判定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判断 RETAIN / UPDATE / SUPERSEDE / CONFLICT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有效记忆解析 + 回答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确定当前有效 Memory，据此生成答案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Web 状态解析展示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展示相关历史 Memory 及其关系、解析过程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必做</a:t>
                      </a:r>
                      <a:endParaRPr sz="11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冲突消解 / 多版本保留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更复杂的冲突消解与多版本保留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endParaRPr sz="1100" b="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Graph Memory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图记忆 / 多跳关系建模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endParaRPr sz="1100" b="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记忆合并压缩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Memory 合并与压缩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endParaRPr sz="1100" b="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自适应检索 / 时间推理</a:t>
                      </a:r>
                      <a:endParaRPr sz="11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自适应检索或复杂时间推理</a:t>
                      </a:r>
                      <a:endParaRPr sz="11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100" b="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endParaRPr sz="1100" b="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870448"/>
            <a:ext cx="10515600" cy="658368"/>
          </a:xfrm>
          <a:prstGeom prst="roundRect">
            <a:avLst/>
          </a:prstGeom>
          <a:solidFill>
            <a:srgbClr val="E8EEF9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989320"/>
            <a:ext cx="9921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 Memory 字段：</a:t>
            </a:r>
            <a:r>
              <a:rPr sz="125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ID · Content · Entity/Event · Timestamp · Source Session/Turn · Query Relation · Validity/State</a:t>
            </a:r>
            <a:endParaRPr sz="125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系统概述（Pipeline）与状态关系示例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6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05840" y="13258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351344"/>
            <a:ext cx="5175504" cy="6623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长对话（多会话）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LoCoMo 多会话对话数据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3703320" y="2025395"/>
            <a:ext cx="274320" cy="210311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2402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300986"/>
            <a:ext cx="5175504" cy="591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结构化记忆抽取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Memory：ID · Content · Entity/Event · Timestamp · Source · State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3703320" y="2939796"/>
            <a:ext cx="274320" cy="210311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1546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162681"/>
            <a:ext cx="5175504" cy="6972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问题驱动检索</a:t>
            </a:r>
            <a:endParaRPr sz="1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相关候选 Memory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3703320" y="3854196"/>
            <a:ext cx="274320" cy="210311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0690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094543"/>
            <a:ext cx="5175504" cy="6623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状态关系判定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RETAIN / UPDATE / SUPERSEDE / CONFLICT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3703320" y="4768596"/>
            <a:ext cx="274320" cy="210311"/>
          </a:xfrm>
          <a:prstGeom prst="down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983480"/>
            <a:ext cx="5760720" cy="6949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5044503"/>
            <a:ext cx="5175504" cy="5911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有效 Memory 解析</a:t>
            </a:r>
            <a:endParaRPr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生成答案 + 证据展示（Web）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132320" y="1325880"/>
            <a:ext cx="420624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461" y="1572768"/>
            <a:ext cx="3584448" cy="4385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状态关系示例（真实 LoCoMo）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 更新</a:t>
            </a:r>
            <a:endParaRPr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Caroline：researching → applied → passed adoption。最新阶段为当前有效状态，前序保留为历史。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>
                <a:solidFill>
                  <a:srgbClr val="C85A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SUPERSEDE 替代</a:t>
            </a:r>
            <a:endParaRPr b="1">
              <a:solidFill>
                <a:srgbClr val="C85A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Gina：1月失业 DoorDash → 3月网店开业。旧状态被新状态替代，历史事实仍可追溯。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b="1">
                <a:solidFill>
                  <a:srgbClr val="C23B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CONFLICT 冲突</a:t>
            </a:r>
            <a:endParaRPr b="1">
              <a:solidFill>
                <a:srgbClr val="C23B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Gina 已失业 vs 仍在 DoorDash 工作。两条当前事实不可同时成立且无充分证据消解 → 标记冲突、暂并存并保留来源。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 Roadmap（版本路线图）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7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6100" y="1449705"/>
          <a:ext cx="11112500" cy="30594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6595"/>
                <a:gridCol w="1574165"/>
                <a:gridCol w="7571740"/>
              </a:tblGrid>
              <a:tr h="69342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版本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里程碑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</a:tr>
              <a:tr h="69405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V1（MVP）</a:t>
                      </a:r>
                      <a:endParaRPr sz="1800" b="1">
                        <a:solidFill>
                          <a:srgbClr val="1E3A8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M3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数据选段（4 dev + 2 test）· 结构化记忆构建 · 统一 JSON 导出 · Web 记忆/证据可视化</a:t>
                      </a:r>
                      <a:endParaRPr sz="18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978535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V2（核心）</a:t>
                      </a:r>
                      <a:endParaRPr sz="1800" b="1">
                        <a:solidFill>
                          <a:srgbClr val="1E3A8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M4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记忆检索 · 状态关系判定（RETAIN/UPDATE/SUPERSEDE/CONFLICT）· 有效记忆解析 + QA · Web 状态解析展示</a:t>
                      </a:r>
                      <a:endParaRPr sz="18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V3（增强）</a:t>
                      </a:r>
                      <a:endParaRPr sz="1800" b="1">
                        <a:solidFill>
                          <a:srgbClr val="1E3A8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M5</a:t>
                      </a:r>
                      <a:endParaRPr sz="180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Bonus</a:t>
                      </a:r>
                      <a:r>
                        <a:rPr lang="zh-CN"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</a:t>
                      </a:r>
                      <a:r>
                        <a:rPr lang="en-US" altLang="zh-CN"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sz="18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（Graph 记忆 / 冲突消解 / 自适应检索）· 完整对照评测 · 报告与终版展示</a:t>
                      </a:r>
                      <a:endParaRPr sz="18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617720"/>
            <a:ext cx="103327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4822317"/>
            <a:ext cx="9646920" cy="1007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推进方式：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每个版本对应一个里程碑，</a:t>
            </a:r>
            <a:r>
              <a:rPr lang="zh-CN"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同版本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至少两轮迭代（初稿 </a:t>
            </a:r>
            <a:r>
              <a:rPr lang="zh-CN"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评审 </a:t>
            </a:r>
            <a:r>
              <a:rPr lang="zh-CN"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修订定稿），截止前预留 1–2 天 buffer，保证功能逐层递进、可追溯。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133600" y="6198870"/>
            <a:ext cx="10711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在</a:t>
            </a:r>
            <a:r>
              <a:rPr lang="en-US" altLang="zh-CN" sz="2000" b="1"/>
              <a:t>M4</a:t>
            </a:r>
            <a:r>
              <a:rPr lang="zh-CN" altLang="en-US" sz="2000" b="1"/>
              <a:t>之前完成</a:t>
            </a:r>
            <a:r>
              <a:rPr lang="en-US" altLang="zh-CN" sz="2000" b="1"/>
              <a:t>in-scope</a:t>
            </a:r>
            <a:r>
              <a:rPr lang="zh-CN" altLang="en-US" sz="2000" b="1"/>
              <a:t>内容，最终版本之前完成所有</a:t>
            </a:r>
            <a:r>
              <a:rPr lang="en-US" altLang="zh-CN" sz="2000" b="1"/>
              <a:t>bonus</a:t>
            </a:r>
            <a:r>
              <a:rPr lang="zh-CN" altLang="en-US" sz="2000" b="1"/>
              <a:t>内容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数据与评测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8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822960" y="1325880"/>
            <a:ext cx="52120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115568" y="1545336"/>
            <a:ext cx="4626864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从官方 10 段长对话选 6 段：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段 dev + 2 段 test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（其余 4 段作扩展评测）。每段平均 588.2 轮、27.2 个会话、约 1.66 万 Token，含 QA / 证据轮次 / 事件摘要标注。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数据与代码：github.com/snap-research/locomo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6153912" y="1325880"/>
            <a:ext cx="52120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6446520" y="1545336"/>
            <a:ext cx="4626864" cy="1918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动态记忆测试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课程从所选 LoCoMo QA 中统一筛选「状态变化」问题，并标注相关历史 Memory、Memory 间的保留 / 更新替代关系及最终有效 Memory。系统需自动检索相关 Memory、完成关系判断与状态解析后再生成答案。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822960" y="3840480"/>
            <a:ext cx="52120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1115568" y="4059936"/>
            <a:ext cx="4626864" cy="1674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评测指标与对照</a:t>
            </a:r>
            <a:endParaRPr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评测：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问题回答 F1 · 证据记忆检索 Recall@K · 动态状态更新判断准确率。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对照（Baseline）：</a:t>
            </a: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 Text（全文）· Vector RAG（检索相关 Memory 但不做状态关系判断）。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6153912" y="3840480"/>
            <a:ext cx="52120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6446520" y="4059936"/>
            <a:ext cx="4626864" cy="1328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Maharana A, et al. Evaluating Very Long-Term Conversational Memory of LLM Agents. ACL 2024.</a:t>
            </a:r>
            <a:endParaRPr sz="16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后续如何推进（计划）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9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280160"/>
          <a:ext cx="6400800" cy="2377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4400"/>
                <a:gridCol w="3383280"/>
                <a:gridCol w="822960"/>
                <a:gridCol w="1280160"/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里程碑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占比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截止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1E3A8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M1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Team Workflow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10/10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M2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Project Proposal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10/10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M3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SRS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10/24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M4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Mid-term（设计/编码/测试）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10/24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E8EE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1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M5</a:t>
                      </a:r>
                      <a:endParaRPr sz="1600" b="1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Final Presentation &amp; Report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30%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11/9</a:t>
                      </a:r>
                      <a:endParaRPr sz="1600" b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3840480"/>
            <a:ext cx="640080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041648"/>
            <a:ext cx="5806440" cy="137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推进方式</a:t>
            </a:r>
            <a:endParaRPr sz="1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每里程碑至少两轮迭代（初稿 → 评审 → 修订定稿），截止前预留 1–2 天 buffer。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阶段一（10/8–10/10）M1+M2；阶段二（10/11–10/24）M3+M4；阶段三（10/25–11/9）M5。</a:t>
            </a:r>
            <a:endParaRPr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阶段二之前完成</a:t>
            </a:r>
            <a:r>
              <a:rPr lang="en-US" altLang="zh-CN"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inscope</a:t>
            </a:r>
            <a:r>
              <a:rPr lang="zh-CN" altLang="en-US"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内容，阶段三之前完成</a:t>
            </a:r>
            <a:r>
              <a:rPr lang="en-US" altLang="zh-CN"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bonus,</a:t>
            </a:r>
            <a:r>
              <a:rPr lang="zh-CN" altLang="en-US" sz="12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并集成完毕。</a:t>
            </a:r>
            <a:endParaRPr lang="zh-CN" altLang="en-US" sz="12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52360" y="1280160"/>
            <a:ext cx="388620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499616"/>
            <a:ext cx="3246120" cy="2062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组长/项目经理：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王嘉淦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需求/数据+算法：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李胡诚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后端开发：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叶泽晨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前端开发：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马旻瑄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测试/DevOps+评测：</a:t>
            </a:r>
            <a:r>
              <a:rPr sz="16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陈镇灏</a:t>
            </a:r>
            <a:endParaRPr sz="16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52360" y="4069080"/>
            <a:ext cx="38862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279392"/>
            <a:ext cx="3246120" cy="1737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下一步行动</a:t>
            </a:r>
            <a:endParaRPr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已完成：建仓库、process/ 目录、</a:t>
            </a:r>
            <a:r>
              <a:rPr lang="zh-CN"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r>
              <a:rPr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会议纪要模板</a:t>
            </a:r>
            <a:r>
              <a:rPr lang="zh-CN" sz="14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、完成首次会议</a:t>
            </a:r>
            <a:endParaRPr sz="14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接下来：选定 4 dev + 2 test 数据、设计 Memory 字段与 JSON 结构、SRS v0.1。</a:t>
            </a:r>
            <a:endParaRPr sz="14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成功标准 / 交付与评分 / 风险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1042415"/>
            <a:ext cx="685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6528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SRE小组 · Milestone 2 · 10</a:t>
            </a:r>
            <a:endParaRPr sz="9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521208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499616"/>
            <a:ext cx="4626864" cy="2277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交付内容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可运行的 Web 应用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完整源代码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结构化 Memory JSON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实验结果与对照分析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项目报告与课堂展示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3912" y="1280160"/>
            <a:ext cx="521208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99616"/>
            <a:ext cx="4626864" cy="211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严格按照</a:t>
            </a:r>
            <a:r>
              <a:rPr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评分依据</a:t>
            </a:r>
            <a:r>
              <a:rPr lang="zh-CN" sz="24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完成项目</a:t>
            </a:r>
            <a:endParaRPr sz="24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sz="20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各里程碑交付物质量</a:t>
            </a:r>
            <a:endParaRPr sz="20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sz="20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版本控制</a:t>
            </a:r>
            <a:endParaRPr sz="20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sz="20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项目管理</a:t>
            </a:r>
            <a:endParaRPr sz="20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50"/>
              </a:spcAft>
            </a:pPr>
            <a:r>
              <a:rPr sz="2000"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中期与期末展示</a:t>
            </a:r>
            <a:endParaRPr sz="2000"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4114800"/>
            <a:ext cx="10543032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D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441" y="4297426"/>
            <a:ext cx="9921240" cy="1184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风险与对策</a:t>
            </a:r>
            <a:endParaRPr sz="200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数据量大（每段 ~588 轮）：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4 段 dev 尽早跑通流水线，再上 2 段 test 复测。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时间紧、迭代多：</a:t>
            </a:r>
            <a:r>
              <a:rPr b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每里程碑两轮迭代 + 提前 1–2 天 buffer；功能逐版本递进、可追溯。</a:t>
            </a:r>
            <a:endParaRPr b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2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3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4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5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6.xml><?xml version="1.0" encoding="utf-8"?>
<p:tagLst xmlns:p="http://schemas.openxmlformats.org/presentationml/2006/main">
  <p:tag name="KSO_WM_DIAGRAM_VIRTUALLY_FRAME" val="{&quot;height&quot;:154.8,&quot;left&quot;:64.8,&quot;top&quot;:334.8,&quot;width&quot;:828.72}"/>
</p:tagLst>
</file>

<file path=ppt/tags/tag7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8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9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0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1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2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3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4.xml><?xml version="1.0" encoding="utf-8"?>
<p:tagLst xmlns:p="http://schemas.openxmlformats.org/presentationml/2006/main">
  <p:tag name="KSO_WM_DIAGRAM_VIRTUALLY_FRAME" val="{&quot;height&quot;:390.23999999999995,&quot;left&quot;:64.8,&quot;top&quot;:104.4,&quot;width&quot;:882}"/>
</p:tagLst>
</file>

<file path=ppt/tags/tag15.xml><?xml version="1.0" encoding="utf-8"?>
<p:tagLst xmlns:p="http://schemas.openxmlformats.org/presentationml/2006/main">
  <p:tag name="TABLE_ENDDRAG_ORIGIN_RECT" val="875*237"/>
  <p:tag name="TABLE_ENDDRAG_RECT" val="43*114*875*237"/>
</p:tagLst>
</file>

<file path=ppt/tags/tag16.xml><?xml version="1.0" encoding="utf-8"?>
<p:tagLst xmlns:p="http://schemas.openxmlformats.org/presentationml/2006/main">
  <p:tag name="KSO_WM_DIAGRAM_VIRTUALLY_FRAME" val="{&quot;height&quot;:381.6,&quot;left&quot;:64.8,&quot;top&quot;:104.4,&quot;width&quot;:830.1600000000001}"/>
</p:tagLst>
</file>

<file path=ppt/tags/tag17.xml><?xml version="1.0" encoding="utf-8"?>
<p:tagLst xmlns:p="http://schemas.openxmlformats.org/presentationml/2006/main">
  <p:tag name="KSO_WM_DIAGRAM_VIRTUALLY_FRAME" val="{&quot;height&quot;:381.6,&quot;left&quot;:64.8,&quot;top&quot;:104.4,&quot;width&quot;:830.1600000000001}"/>
</p:tagLst>
</file>

<file path=ppt/tags/tag18.xml><?xml version="1.0" encoding="utf-8"?>
<p:tagLst xmlns:p="http://schemas.openxmlformats.org/presentationml/2006/main">
  <p:tag name="KSO_WM_DIAGRAM_VIRTUALLY_FRAME" val="{&quot;height&quot;:381.6,&quot;left&quot;:64.8,&quot;top&quot;:104.4,&quot;width&quot;:830.1600000000001}"/>
</p:tagLst>
</file>

<file path=ppt/tags/tag19.xml><?xml version="1.0" encoding="utf-8"?>
<p:tagLst xmlns:p="http://schemas.openxmlformats.org/presentationml/2006/main">
  <p:tag name="KSO_WM_DIAGRAM_VIRTUALLY_FRAME" val="{&quot;height&quot;:381.6,&quot;left&quot;:64.8,&quot;top&quot;:104.4,&quot;width&quot;:830.1600000000001}"/>
</p:tagLst>
</file>

<file path=ppt/tags/tag20.xml><?xml version="1.0" encoding="utf-8"?>
<p:tagLst xmlns:p="http://schemas.openxmlformats.org/presentationml/2006/main">
  <p:tag name="KSO_WM_DIAGRAM_VIRTUALLY_FRAME" val="{&quot;height&quot;:381.6,&quot;left&quot;:64.8,&quot;top&quot;:104.4,&quot;width&quot;:830.1600000000001}"/>
</p:tagLst>
</file>

<file path=ppt/tags/tag21.xml><?xml version="1.0" encoding="utf-8"?>
<p:tagLst xmlns:p="http://schemas.openxmlformats.org/presentationml/2006/main">
  <p:tag name="KSO_WM_DIAGRAM_VIRTUALLY_FRAME" val="{&quot;height&quot;:381.6,&quot;left&quot;:64.8,&quot;top&quot;:104.4,&quot;width&quot;:830.1600000000001}"/>
</p:tagLst>
</file>

<file path=ppt/tags/tag22.xml><?xml version="1.0" encoding="utf-8"?>
<p:tagLst xmlns:p="http://schemas.openxmlformats.org/presentationml/2006/main">
  <p:tag name="KSO_WM_DIAGRAM_VIRTUALLY_FRAME" val="{&quot;height&quot;:381.6,&quot;left&quot;:64.8,&quot;top&quot;:104.4,&quot;width&quot;:830.1600000000001}"/>
</p:tagLst>
</file>

<file path=ppt/tags/tag23.xml><?xml version="1.0" encoding="utf-8"?>
<p:tagLst xmlns:p="http://schemas.openxmlformats.org/presentationml/2006/main">
  <p:tag name="KSO_WM_DIAGRAM_VIRTUALLY_FRAME" val="{&quot;height&quot;:381.6,&quot;left&quot;:64.8,&quot;top&quot;:104.4,&quot;width&quot;:830.16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4061</Words>
  <Application>WPS Presentation</Application>
  <PresentationFormat>On-screen Show (4:3)</PresentationFormat>
  <Paragraphs>316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王嘉淦</cp:lastModifiedBy>
  <cp:revision>18</cp:revision>
  <dcterms:created xsi:type="dcterms:W3CDTF">2013-01-27T09:14:00Z</dcterms:created>
  <dcterms:modified xsi:type="dcterms:W3CDTF">2026-10-09T12:55:28Z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D33ECDD4762F4CCEA36AC3675E60FF0A_12</vt:lpwstr>
  </property>
  <property fmtid="{D5CDD505-2E9C-101B-9397-08002B2CF9AE}" pid="3" name="KSOProductBuildVer">
    <vt:lpwstr>1033-12.1.0.28043</vt:lpwstr>
  </property>
</Properties>
</file>